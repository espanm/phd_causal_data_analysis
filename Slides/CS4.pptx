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80" r:id="rId9"/>
    <p:sldId id="291" r:id="rId10"/>
    <p:sldId id="264" r:id="rId11"/>
    <p:sldId id="292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8E82A-7D7D-4526-BB6D-9D73322D4D45}" v="477" dt="2025-12-08T09:44:23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őkés László János" userId="66d05c4e-82b5-4a05-93ab-1d0acbb09014" providerId="ADAL" clId="{8EF9FDA8-5BFA-4882-A82F-7F64C54494E3}"/>
    <pc:docChg chg="undo custSel addSld delSld modSld">
      <pc:chgData name="Tőkés László János" userId="66d05c4e-82b5-4a05-93ab-1d0acbb09014" providerId="ADAL" clId="{8EF9FDA8-5BFA-4882-A82F-7F64C54494E3}" dt="2025-12-08T09:54:51.305" v="2268" actId="20577"/>
      <pc:docMkLst>
        <pc:docMk/>
      </pc:docMkLst>
      <pc:sldChg chg="modSp mod modClrScheme chgLayout">
        <pc:chgData name="Tőkés László János" userId="66d05c4e-82b5-4a05-93ab-1d0acbb09014" providerId="ADAL" clId="{8EF9FDA8-5BFA-4882-A82F-7F64C54494E3}" dt="2025-12-07T08:32:19.363" v="1935" actId="700"/>
        <pc:sldMkLst>
          <pc:docMk/>
          <pc:sldMk cId="3564439721" sldId="256"/>
        </pc:sldMkLst>
        <pc:spChg chg="mod ord">
          <ac:chgData name="Tőkés László János" userId="66d05c4e-82b5-4a05-93ab-1d0acbb09014" providerId="ADAL" clId="{8EF9FDA8-5BFA-4882-A82F-7F64C54494E3}" dt="2025-12-07T08:32:19.363" v="1935" actId="700"/>
          <ac:spMkLst>
            <pc:docMk/>
            <pc:sldMk cId="3564439721" sldId="256"/>
            <ac:spMk id="2" creationId="{22792BC8-840C-D070-E0E5-F11492C529DB}"/>
          </ac:spMkLst>
        </pc:spChg>
        <pc:spChg chg="mod ord">
          <ac:chgData name="Tőkés László János" userId="66d05c4e-82b5-4a05-93ab-1d0acbb09014" providerId="ADAL" clId="{8EF9FDA8-5BFA-4882-A82F-7F64C54494E3}" dt="2025-12-07T08:32:19.363" v="1935" actId="700"/>
          <ac:spMkLst>
            <pc:docMk/>
            <pc:sldMk cId="3564439721" sldId="256"/>
            <ac:spMk id="3" creationId="{877BE28F-8820-8180-A7B3-30E718964EE7}"/>
          </ac:spMkLst>
        </pc:spChg>
      </pc:sldChg>
      <pc:sldChg chg="modSp mod modAnim">
        <pc:chgData name="Tőkés László János" userId="66d05c4e-82b5-4a05-93ab-1d0acbb09014" providerId="ADAL" clId="{8EF9FDA8-5BFA-4882-A82F-7F64C54494E3}" dt="2025-12-08T09:44:23.057" v="2267" actId="20577"/>
        <pc:sldMkLst>
          <pc:docMk/>
          <pc:sldMk cId="2698143388" sldId="257"/>
        </pc:sldMkLst>
        <pc:spChg chg="mod">
          <ac:chgData name="Tőkés László János" userId="66d05c4e-82b5-4a05-93ab-1d0acbb09014" providerId="ADAL" clId="{8EF9FDA8-5BFA-4882-A82F-7F64C54494E3}" dt="2025-12-08T09:44:23.057" v="2267" actId="20577"/>
          <ac:spMkLst>
            <pc:docMk/>
            <pc:sldMk cId="2698143388" sldId="257"/>
            <ac:spMk id="3" creationId="{37B1F450-6029-FB60-49F5-E7C6EDED35D1}"/>
          </ac:spMkLst>
        </pc:spChg>
      </pc:sldChg>
      <pc:sldChg chg="modSp new mod">
        <pc:chgData name="Tőkés László János" userId="66d05c4e-82b5-4a05-93ab-1d0acbb09014" providerId="ADAL" clId="{8EF9FDA8-5BFA-4882-A82F-7F64C54494E3}" dt="2025-12-03T07:52:38.704" v="231" actId="20577"/>
        <pc:sldMkLst>
          <pc:docMk/>
          <pc:sldMk cId="611513976" sldId="258"/>
        </pc:sldMkLst>
        <pc:spChg chg="mod">
          <ac:chgData name="Tőkés László János" userId="66d05c4e-82b5-4a05-93ab-1d0acbb09014" providerId="ADAL" clId="{8EF9FDA8-5BFA-4882-A82F-7F64C54494E3}" dt="2025-12-03T07:52:38.704" v="231" actId="20577"/>
          <ac:spMkLst>
            <pc:docMk/>
            <pc:sldMk cId="611513976" sldId="258"/>
            <ac:spMk id="2" creationId="{E22E58F7-FA42-DD82-32BF-BEF2F15327F5}"/>
          </ac:spMkLst>
        </pc:spChg>
        <pc:spChg chg="mod">
          <ac:chgData name="Tőkés László János" userId="66d05c4e-82b5-4a05-93ab-1d0acbb09014" providerId="ADAL" clId="{8EF9FDA8-5BFA-4882-A82F-7F64C54494E3}" dt="2025-12-03T07:47:48.232" v="228" actId="20577"/>
          <ac:spMkLst>
            <pc:docMk/>
            <pc:sldMk cId="611513976" sldId="258"/>
            <ac:spMk id="3" creationId="{AAEA9756-5FAC-2CCE-7DC6-B3B6B3A4EFC7}"/>
          </ac:spMkLst>
        </pc:spChg>
      </pc:sldChg>
      <pc:sldChg chg="modSp new mod modAnim">
        <pc:chgData name="Tőkés László János" userId="66d05c4e-82b5-4a05-93ab-1d0acbb09014" providerId="ADAL" clId="{8EF9FDA8-5BFA-4882-A82F-7F64C54494E3}" dt="2025-12-08T09:37:27.410" v="2179"/>
        <pc:sldMkLst>
          <pc:docMk/>
          <pc:sldMk cId="1060271118" sldId="259"/>
        </pc:sldMkLst>
        <pc:spChg chg="mod">
          <ac:chgData name="Tőkés László János" userId="66d05c4e-82b5-4a05-93ab-1d0acbb09014" providerId="ADAL" clId="{8EF9FDA8-5BFA-4882-A82F-7F64C54494E3}" dt="2025-12-03T07:52:46.675" v="251" actId="20577"/>
          <ac:spMkLst>
            <pc:docMk/>
            <pc:sldMk cId="1060271118" sldId="259"/>
            <ac:spMk id="2" creationId="{6624096E-67B9-DC3E-B7EA-31AF029E490D}"/>
          </ac:spMkLst>
        </pc:spChg>
        <pc:spChg chg="mod">
          <ac:chgData name="Tőkés László János" userId="66d05c4e-82b5-4a05-93ab-1d0acbb09014" providerId="ADAL" clId="{8EF9FDA8-5BFA-4882-A82F-7F64C54494E3}" dt="2025-12-08T09:36:43.869" v="2177" actId="20577"/>
          <ac:spMkLst>
            <pc:docMk/>
            <pc:sldMk cId="1060271118" sldId="259"/>
            <ac:spMk id="3" creationId="{A60B6175-D688-5742-4F23-A96848A29223}"/>
          </ac:spMkLst>
        </pc:spChg>
      </pc:sldChg>
      <pc:sldChg chg="modSp new mod modAnim">
        <pc:chgData name="Tőkés László János" userId="66d05c4e-82b5-4a05-93ab-1d0acbb09014" providerId="ADAL" clId="{8EF9FDA8-5BFA-4882-A82F-7F64C54494E3}" dt="2025-12-08T09:40:20.188" v="2237" actId="1076"/>
        <pc:sldMkLst>
          <pc:docMk/>
          <pc:sldMk cId="802651149" sldId="260"/>
        </pc:sldMkLst>
        <pc:spChg chg="mod">
          <ac:chgData name="Tőkés László János" userId="66d05c4e-82b5-4a05-93ab-1d0acbb09014" providerId="ADAL" clId="{8EF9FDA8-5BFA-4882-A82F-7F64C54494E3}" dt="2025-12-03T08:07:09.332" v="646" actId="20577"/>
          <ac:spMkLst>
            <pc:docMk/>
            <pc:sldMk cId="802651149" sldId="260"/>
            <ac:spMk id="2" creationId="{CAB4BB3C-8ECB-E612-CC44-6CB3936D92FC}"/>
          </ac:spMkLst>
        </pc:spChg>
        <pc:spChg chg="mod">
          <ac:chgData name="Tőkés László János" userId="66d05c4e-82b5-4a05-93ab-1d0acbb09014" providerId="ADAL" clId="{8EF9FDA8-5BFA-4882-A82F-7F64C54494E3}" dt="2025-12-08T09:40:20.188" v="2237" actId="1076"/>
          <ac:spMkLst>
            <pc:docMk/>
            <pc:sldMk cId="802651149" sldId="260"/>
            <ac:spMk id="3" creationId="{1D9281CE-1A9F-B644-A0DF-A9C221EC1581}"/>
          </ac:spMkLst>
        </pc:spChg>
      </pc:sldChg>
      <pc:sldChg chg="addSp delSp modSp new mod modNotesTx">
        <pc:chgData name="Tőkés László János" userId="66d05c4e-82b5-4a05-93ab-1d0acbb09014" providerId="ADAL" clId="{8EF9FDA8-5BFA-4882-A82F-7F64C54494E3}" dt="2025-12-08T09:54:51.305" v="2268" actId="20577"/>
        <pc:sldMkLst>
          <pc:docMk/>
          <pc:sldMk cId="2144148088" sldId="261"/>
        </pc:sldMkLst>
        <pc:spChg chg="mod">
          <ac:chgData name="Tőkés László János" userId="66d05c4e-82b5-4a05-93ab-1d0acbb09014" providerId="ADAL" clId="{8EF9FDA8-5BFA-4882-A82F-7F64C54494E3}" dt="2025-12-03T08:54:28.752" v="1093" actId="20577"/>
          <ac:spMkLst>
            <pc:docMk/>
            <pc:sldMk cId="2144148088" sldId="261"/>
            <ac:spMk id="2" creationId="{126F6938-8AEC-A33B-2136-0C3FB7674BB6}"/>
          </ac:spMkLst>
        </pc:spChg>
        <pc:spChg chg="add del mod">
          <ac:chgData name="Tőkés László János" userId="66d05c4e-82b5-4a05-93ab-1d0acbb09014" providerId="ADAL" clId="{8EF9FDA8-5BFA-4882-A82F-7F64C54494E3}" dt="2025-12-07T08:31:43.768" v="1932" actId="20577"/>
          <ac:spMkLst>
            <pc:docMk/>
            <pc:sldMk cId="2144148088" sldId="261"/>
            <ac:spMk id="3" creationId="{6CFC8898-4158-B325-3A83-7D8FE086095F}"/>
          </ac:spMkLst>
        </pc:spChg>
      </pc:sldChg>
      <pc:sldChg chg="addSp modSp new mod">
        <pc:chgData name="Tőkés László János" userId="66d05c4e-82b5-4a05-93ab-1d0acbb09014" providerId="ADAL" clId="{8EF9FDA8-5BFA-4882-A82F-7F64C54494E3}" dt="2025-12-07T08:29:41.505" v="1930" actId="20577"/>
        <pc:sldMkLst>
          <pc:docMk/>
          <pc:sldMk cId="2519684399" sldId="262"/>
        </pc:sldMkLst>
        <pc:spChg chg="mod">
          <ac:chgData name="Tőkés László János" userId="66d05c4e-82b5-4a05-93ab-1d0acbb09014" providerId="ADAL" clId="{8EF9FDA8-5BFA-4882-A82F-7F64C54494E3}" dt="2025-12-03T08:57:17.703" v="1115" actId="20577"/>
          <ac:spMkLst>
            <pc:docMk/>
            <pc:sldMk cId="2519684399" sldId="262"/>
            <ac:spMk id="2" creationId="{662A338E-B93B-78B9-81C8-D9E383337248}"/>
          </ac:spMkLst>
        </pc:spChg>
        <pc:spChg chg="mod">
          <ac:chgData name="Tőkés László János" userId="66d05c4e-82b5-4a05-93ab-1d0acbb09014" providerId="ADAL" clId="{8EF9FDA8-5BFA-4882-A82F-7F64C54494E3}" dt="2025-12-07T08:29:41.505" v="1930" actId="20577"/>
          <ac:spMkLst>
            <pc:docMk/>
            <pc:sldMk cId="2519684399" sldId="262"/>
            <ac:spMk id="3" creationId="{C2FBAE14-F0FE-534B-C905-2119F319A16B}"/>
          </ac:spMkLst>
        </pc:spChg>
      </pc:sldChg>
      <pc:sldChg chg="modSp new del mod">
        <pc:chgData name="Tőkés László János" userId="66d05c4e-82b5-4a05-93ab-1d0acbb09014" providerId="ADAL" clId="{8EF9FDA8-5BFA-4882-A82F-7F64C54494E3}" dt="2025-12-07T09:37:21.819" v="2082" actId="47"/>
        <pc:sldMkLst>
          <pc:docMk/>
          <pc:sldMk cId="122908182" sldId="263"/>
        </pc:sldMkLst>
      </pc:sldChg>
      <pc:sldChg chg="addSp delSp modSp new mod">
        <pc:chgData name="Tőkés László János" userId="66d05c4e-82b5-4a05-93ab-1d0acbb09014" providerId="ADAL" clId="{8EF9FDA8-5BFA-4882-A82F-7F64C54494E3}" dt="2025-12-07T08:39:28.236" v="2028" actId="1076"/>
        <pc:sldMkLst>
          <pc:docMk/>
          <pc:sldMk cId="472279565" sldId="264"/>
        </pc:sldMkLst>
        <pc:spChg chg="mod">
          <ac:chgData name="Tőkés László János" userId="66d05c4e-82b5-4a05-93ab-1d0acbb09014" providerId="ADAL" clId="{8EF9FDA8-5BFA-4882-A82F-7F64C54494E3}" dt="2025-12-07T08:39:06.558" v="2024" actId="20577"/>
          <ac:spMkLst>
            <pc:docMk/>
            <pc:sldMk cId="472279565" sldId="264"/>
            <ac:spMk id="2" creationId="{E6F0A91E-FBA0-3723-5145-61F70E619E6C}"/>
          </ac:spMkLst>
        </pc:spChg>
        <pc:spChg chg="del">
          <ac:chgData name="Tőkés László János" userId="66d05c4e-82b5-4a05-93ab-1d0acbb09014" providerId="ADAL" clId="{8EF9FDA8-5BFA-4882-A82F-7F64C54494E3}" dt="2025-12-07T08:39:10.140" v="2025"/>
          <ac:spMkLst>
            <pc:docMk/>
            <pc:sldMk cId="472279565" sldId="264"/>
            <ac:spMk id="3" creationId="{62A37A6D-256A-E3B6-80EF-B787989D2A86}"/>
          </ac:spMkLst>
        </pc:spChg>
        <pc:picChg chg="add mod">
          <ac:chgData name="Tőkés László János" userId="66d05c4e-82b5-4a05-93ab-1d0acbb09014" providerId="ADAL" clId="{8EF9FDA8-5BFA-4882-A82F-7F64C54494E3}" dt="2025-12-07T08:39:28.236" v="2028" actId="1076"/>
          <ac:picMkLst>
            <pc:docMk/>
            <pc:sldMk cId="472279565" sldId="264"/>
            <ac:picMk id="4" creationId="{19DF0524-8A11-D110-3306-BCD87370DD39}"/>
          </ac:picMkLst>
        </pc:picChg>
      </pc:sldChg>
      <pc:sldChg chg="delSp add mod">
        <pc:chgData name="Tőkés László János" userId="66d05c4e-82b5-4a05-93ab-1d0acbb09014" providerId="ADAL" clId="{8EF9FDA8-5BFA-4882-A82F-7F64C54494E3}" dt="2025-12-07T08:32:39.551" v="1936" actId="478"/>
        <pc:sldMkLst>
          <pc:docMk/>
          <pc:sldMk cId="1946354021" sldId="280"/>
        </pc:sldMkLst>
        <pc:spChg chg="del">
          <ac:chgData name="Tőkés László János" userId="66d05c4e-82b5-4a05-93ab-1d0acbb09014" providerId="ADAL" clId="{8EF9FDA8-5BFA-4882-A82F-7F64C54494E3}" dt="2025-12-07T08:32:39.551" v="1936" actId="478"/>
          <ac:spMkLst>
            <pc:docMk/>
            <pc:sldMk cId="1946354021" sldId="280"/>
            <ac:spMk id="4" creationId="{45C4850A-F628-4851-8E71-147C68945D6A}"/>
          </ac:spMkLst>
        </pc:spChg>
      </pc:sldChg>
      <pc:sldChg chg="delSp modSp add del mod modClrScheme chgLayout">
        <pc:chgData name="Tőkés László János" userId="66d05c4e-82b5-4a05-93ab-1d0acbb09014" providerId="ADAL" clId="{8EF9FDA8-5BFA-4882-A82F-7F64C54494E3}" dt="2025-12-07T08:37:03.264" v="2009" actId="47"/>
        <pc:sldMkLst>
          <pc:docMk/>
          <pc:sldMk cId="2111353496" sldId="290"/>
        </pc:sldMkLst>
        <pc:spChg chg="mod ord">
          <ac:chgData name="Tőkés László János" userId="66d05c4e-82b5-4a05-93ab-1d0acbb09014" providerId="ADAL" clId="{8EF9FDA8-5BFA-4882-A82F-7F64C54494E3}" dt="2025-12-07T08:33:00.887" v="1938" actId="700"/>
          <ac:spMkLst>
            <pc:docMk/>
            <pc:sldMk cId="2111353496" sldId="290"/>
            <ac:spMk id="2" creationId="{C3ECB0B4-71A2-4EF6-8665-0F474940EA96}"/>
          </ac:spMkLst>
        </pc:spChg>
        <pc:spChg chg="mod ord">
          <ac:chgData name="Tőkés László János" userId="66d05c4e-82b5-4a05-93ab-1d0acbb09014" providerId="ADAL" clId="{8EF9FDA8-5BFA-4882-A82F-7F64C54494E3}" dt="2025-12-07T08:35:25.741" v="1975" actId="108"/>
          <ac:spMkLst>
            <pc:docMk/>
            <pc:sldMk cId="2111353496" sldId="290"/>
            <ac:spMk id="3" creationId="{7FFC1B27-8F98-4013-9B27-D42C69ED5336}"/>
          </ac:spMkLst>
        </pc:spChg>
        <pc:spChg chg="del mod ord">
          <ac:chgData name="Tőkés László János" userId="66d05c4e-82b5-4a05-93ab-1d0acbb09014" providerId="ADAL" clId="{8EF9FDA8-5BFA-4882-A82F-7F64C54494E3}" dt="2025-12-07T08:33:50.974" v="1951" actId="478"/>
          <ac:spMkLst>
            <pc:docMk/>
            <pc:sldMk cId="2111353496" sldId="290"/>
            <ac:spMk id="5" creationId="{34DB36F2-76DF-467F-BCCE-F99D399C331F}"/>
          </ac:spMkLst>
        </pc:spChg>
      </pc:sldChg>
      <pc:sldChg chg="addSp delSp modSp new mod modClrScheme chgLayout">
        <pc:chgData name="Tőkés László János" userId="66d05c4e-82b5-4a05-93ab-1d0acbb09014" providerId="ADAL" clId="{8EF9FDA8-5BFA-4882-A82F-7F64C54494E3}" dt="2025-12-07T09:37:52.552" v="2092" actId="20577"/>
        <pc:sldMkLst>
          <pc:docMk/>
          <pc:sldMk cId="26165961" sldId="291"/>
        </pc:sldMkLst>
        <pc:spChg chg="del mod ord">
          <ac:chgData name="Tőkés László János" userId="66d05c4e-82b5-4a05-93ab-1d0acbb09014" providerId="ADAL" clId="{8EF9FDA8-5BFA-4882-A82F-7F64C54494E3}" dt="2025-12-07T08:35:44.351" v="1977" actId="700"/>
          <ac:spMkLst>
            <pc:docMk/>
            <pc:sldMk cId="26165961" sldId="291"/>
            <ac:spMk id="2" creationId="{3827620B-50A2-A7AC-F9EF-55C42468EC3B}"/>
          </ac:spMkLst>
        </pc:spChg>
        <pc:spChg chg="del mod ord">
          <ac:chgData name="Tőkés László János" userId="66d05c4e-82b5-4a05-93ab-1d0acbb09014" providerId="ADAL" clId="{8EF9FDA8-5BFA-4882-A82F-7F64C54494E3}" dt="2025-12-07T08:35:44.351" v="1977" actId="700"/>
          <ac:spMkLst>
            <pc:docMk/>
            <pc:sldMk cId="26165961" sldId="291"/>
            <ac:spMk id="3" creationId="{C4127D1F-83C1-1262-8A68-D64B7035417B}"/>
          </ac:spMkLst>
        </pc:spChg>
        <pc:spChg chg="add mod ord">
          <ac:chgData name="Tőkés László János" userId="66d05c4e-82b5-4a05-93ab-1d0acbb09014" providerId="ADAL" clId="{8EF9FDA8-5BFA-4882-A82F-7F64C54494E3}" dt="2025-12-07T08:35:52.599" v="1984" actId="20577"/>
          <ac:spMkLst>
            <pc:docMk/>
            <pc:sldMk cId="26165961" sldId="291"/>
            <ac:spMk id="4" creationId="{0F49A2D5-C17C-8187-7E26-5A765C19E362}"/>
          </ac:spMkLst>
        </pc:spChg>
        <pc:spChg chg="add mod ord">
          <ac:chgData name="Tőkés László János" userId="66d05c4e-82b5-4a05-93ab-1d0acbb09014" providerId="ADAL" clId="{8EF9FDA8-5BFA-4882-A82F-7F64C54494E3}" dt="2025-12-07T09:37:52.552" v="2092" actId="20577"/>
          <ac:spMkLst>
            <pc:docMk/>
            <pc:sldMk cId="26165961" sldId="291"/>
            <ac:spMk id="5" creationId="{FDB1F564-8040-3FF7-CC0E-5E7043B348EF}"/>
          </ac:spMkLst>
        </pc:spChg>
      </pc:sldChg>
      <pc:sldChg chg="modSp new mod">
        <pc:chgData name="Tőkés László János" userId="66d05c4e-82b5-4a05-93ab-1d0acbb09014" providerId="ADAL" clId="{8EF9FDA8-5BFA-4882-A82F-7F64C54494E3}" dt="2025-12-07T08:45:18.860" v="2081" actId="5793"/>
        <pc:sldMkLst>
          <pc:docMk/>
          <pc:sldMk cId="357075555" sldId="292"/>
        </pc:sldMkLst>
        <pc:spChg chg="mod">
          <ac:chgData name="Tőkés László János" userId="66d05c4e-82b5-4a05-93ab-1d0acbb09014" providerId="ADAL" clId="{8EF9FDA8-5BFA-4882-A82F-7F64C54494E3}" dt="2025-12-07T08:39:41.674" v="2043" actId="20577"/>
          <ac:spMkLst>
            <pc:docMk/>
            <pc:sldMk cId="357075555" sldId="292"/>
            <ac:spMk id="2" creationId="{A4DA3ADE-6D69-5E8B-4325-249C4E9AB4EF}"/>
          </ac:spMkLst>
        </pc:spChg>
        <pc:spChg chg="mod">
          <ac:chgData name="Tőkés László János" userId="66d05c4e-82b5-4a05-93ab-1d0acbb09014" providerId="ADAL" clId="{8EF9FDA8-5BFA-4882-A82F-7F64C54494E3}" dt="2025-12-07T08:45:18.860" v="2081" actId="5793"/>
          <ac:spMkLst>
            <pc:docMk/>
            <pc:sldMk cId="357075555" sldId="292"/>
            <ac:spMk id="3" creationId="{099C09CB-AA1B-D7FD-23C0-54E1CDBFD4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E5304-DACD-4FF4-9F87-C337A392A6A5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3FC26-63FA-4C38-8735-FBE047C4B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9933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3FC26-63FA-4C38-8735-FBE047C4B143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240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18884B-8B32-BBCE-D06B-03D5F6A01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6651EEA-09A9-2E51-BC9E-1C2837371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2D6EA7-D2C1-8975-6BD1-D204B467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F50329D-DEEF-543A-F612-1FA40739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C69A3E3-0FA7-91FC-66BD-141B99DC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41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CA31F-A971-173D-F963-20C759EE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D8B91C-24CC-E89F-6B3A-58D597F0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59188D-02BD-916B-89CF-AAF2AE63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3DE07C-3A73-5634-8E95-C179085A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1789DA-8DCE-1A52-CDC8-A1D37320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669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393229-F94E-D7A7-56F1-1E2EBCBD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4A342B4-22EE-FF19-F3E6-62304E0F3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E0F7C4-047F-0C4F-3DC0-A901B1F0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C1163FE-5357-DB65-88C1-D32292DE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23D408F-46A5-893A-72B5-FF7AA398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0536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0F3322-76AF-C113-107E-9BFDF0EC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B1DF13-0D09-EB34-30E2-BD0A8329C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17F04E4-6B50-3966-E2BD-DF3F91EC2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6F082A7-AD24-2CEB-3488-E432CC1F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E5AC48E-4455-504C-14A3-F037C460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C7E36AC-ABD1-A4FD-F000-88F7A1DD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75476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47D5B7-2DD5-3A1C-FF1A-259631ED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585BBBD-0F17-34B2-72CF-CCDB0A73F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22893BF-EBA4-55DA-7029-D179320B7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42B20DE-B670-639F-06B9-E5DD5B7B3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D5F4233-79D3-8470-6F01-182198C6B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8293AAB-77A0-570F-2FA0-E67DEE5B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780057C-148C-7D3A-64F9-495150A8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3950DF5-F442-C2F5-EAF2-A3EDCD26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0443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C84C1E-35C5-90F3-5879-1E5B6B45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7C274B4-BADF-4AAC-96A7-75388A02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B4B1450-CC35-02A9-0EB5-395F6FAE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F9DEDF4-9ED9-50C4-A6D0-A0F620B2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5491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EAD6071-F361-CB59-BAF3-5570CFEA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F16F480-6FE8-CC99-EB43-3636B3B9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87D4A9B-D31E-A187-3252-DA22EF7A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730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8D6C88-223D-D419-25EA-E7B28EA9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48D886-A0FF-0DB0-FE7F-B3AA61025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795A415-A33C-8CCE-1B0B-A27099318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B420FA-2258-A20F-39A0-D29E4856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10B8E8F-C12C-FF18-B43F-5BA8E791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D1510B2-0F98-CA1D-E01C-AC851DA3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4075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0935C6-944E-04D3-BEFA-D2B71F963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58C5F1E-3071-BA6F-F489-18D513927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993711F-98E0-5E77-61CE-F1E035A47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8521B39-4531-EA93-B31F-4ED19449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350DC7-0244-B870-E07D-83FF70CAB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CF70D1F-48AE-DCFA-6103-E45B5D99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050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F00638-639F-2F52-E437-21081B8A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C89E79A-7FE0-7A9D-42E9-6F1CA19BA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CAADAFF-B0F2-240F-F169-FFD9C281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FB2298-64AF-B33C-026F-4903D352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F188213-1323-4EEF-36E6-31A85256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5405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C14EAB5-8CB9-D1F7-2532-543A7055C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D46130A-C001-3F4B-DC2B-53BEF57D9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567DEA-D9BA-094E-A0CC-CCE63C77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BB5C-D1F3-432F-B9BB-B280E639D3D2}" type="datetimeFigureOut">
              <a:rPr lang="hu-HU" smtClean="0"/>
              <a:t>2025. 12. 08.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01B951-A5C2-249D-0BB8-C1FBAAD7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3765CF-9EA6-F4A5-27AB-9E99F7F9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412F-C40D-442F-BD68-F9D64C4B12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57710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émaelválasztó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521EF57-C42D-4AD7-96B5-BBCD9FF225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0000">
            <a:off x="8612223" y="3585940"/>
            <a:ext cx="2544996" cy="254499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AA0E2B3-C33F-44BF-BD24-838C7225A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4" y="1557353"/>
            <a:ext cx="11096623" cy="1871647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44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Georgia 44 </a:t>
            </a:r>
            <a:r>
              <a:rPr lang="en-US" dirty="0" err="1"/>
              <a:t>pt</a:t>
            </a:r>
            <a:endParaRPr lang="hu-H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12A0EB8-6C6A-462B-B007-E47F92C711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27113" y="3455504"/>
            <a:ext cx="7431088" cy="7041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 err="1"/>
              <a:t>Arial</a:t>
            </a:r>
            <a:r>
              <a:rPr lang="hu-HU" dirty="0"/>
              <a:t> 41 </a:t>
            </a:r>
            <a:r>
              <a:rPr lang="hu-HU" dirty="0" err="1"/>
              <a:t>pt</a:t>
            </a:r>
            <a:endParaRPr lang="hu-H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07BBF8D-59B5-4E98-9412-4127A463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80475" y="553688"/>
            <a:ext cx="2743200" cy="18410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0FD362-F193-4210-BF89-48DFFBB39316}" type="datetime3">
              <a:rPr lang="en-US" smtClean="0"/>
              <a:t>8 December 2025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21123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ímsor +1 felsorol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07D3E3-AE15-4CCF-87C9-79791466A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11091861" cy="69769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Georgia </a:t>
            </a:r>
            <a:r>
              <a:rPr lang="en-US" dirty="0"/>
              <a:t>36</a:t>
            </a:r>
            <a:r>
              <a:rPr lang="hu-HU" dirty="0"/>
              <a:t> </a:t>
            </a:r>
            <a:r>
              <a:rPr lang="hu-HU" dirty="0" err="1"/>
              <a:t>pt</a:t>
            </a:r>
            <a:endParaRPr lang="hu-HU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0785E47-8640-445E-ADE0-B4AF3857840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1042987" y="2628900"/>
            <a:ext cx="10580687" cy="3644900"/>
          </a:xfrm>
          <a:prstGeom prst="rect">
            <a:avLst/>
          </a:prstGeom>
        </p:spPr>
        <p:txBody>
          <a:bodyPr lIns="0" tIns="0" rIns="0" bIns="0"/>
          <a:lstStyle>
            <a:lvl1pPr marL="216000" indent="-216000" defTabSz="54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11000"/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 dirty="0" err="1"/>
              <a:t>Arial</a:t>
            </a:r>
            <a:r>
              <a:rPr lang="hu-HU" dirty="0"/>
              <a:t> 18 </a:t>
            </a:r>
            <a:r>
              <a:rPr lang="hu-HU" dirty="0" err="1"/>
              <a:t>pt</a:t>
            </a:r>
            <a:r>
              <a:rPr lang="hu-HU" dirty="0"/>
              <a:t> felsorolás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407B58E-6656-479D-A528-169ECA6EF1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361112" y="802093"/>
            <a:ext cx="5262562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lang="hu-HU" sz="1200" dirty="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Header</a:t>
            </a:r>
            <a:endParaRPr lang="hu-HU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4FC81C9-D12D-4A6F-A215-C7503B2C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80475" y="553688"/>
            <a:ext cx="2743200" cy="18410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3B2AA8-89B5-4212-8DD8-FA9CB978D898}" type="datetime3">
              <a:rPr lang="en-US" smtClean="0"/>
              <a:t>8 December 2025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304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31C2C32-3307-8A49-B0CC-CB1A3071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F21417B-5095-7552-56B0-5D4A92EFE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3ABFD9A-9782-E848-940C-7761FDAEF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0BB5C-D1F3-432F-B9BB-B280E639D3D2}" type="datetimeFigureOut">
              <a:rPr lang="hu-HU" smtClean="0"/>
              <a:t>2025. 12. 08.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A0AD7D-C8BA-1FAF-F841-AE9E50618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3E66B7-86B3-0ADC-1923-08F8CC660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3412F-C40D-442F-BD68-F9D64C4B12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625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sdj62/downloa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792BC8-840C-D070-E0E5-F11492C52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en-GB" noProof="0" dirty="0"/>
              <a:t>synthetic</a:t>
            </a:r>
            <a:r>
              <a:rPr lang="hu-HU" dirty="0"/>
              <a:t> control </a:t>
            </a:r>
            <a:r>
              <a:rPr lang="hu-HU" dirty="0" err="1"/>
              <a:t>method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77BE28F-8820-8180-A7B3-30E718964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Chapter</a:t>
            </a:r>
            <a:r>
              <a:rPr lang="hu-HU" dirty="0"/>
              <a:t> 24</a:t>
            </a:r>
          </a:p>
        </p:txBody>
      </p:sp>
    </p:spTree>
    <p:extLst>
      <p:ext uri="{BB962C8B-B14F-4D97-AF65-F5344CB8AC3E}">
        <p14:creationId xmlns:p14="http://schemas.microsoft.com/office/powerpoint/2010/main" val="356443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942172-6DEA-B3BC-6C30-171303D0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Comparative case study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B1F450-6029-FB60-49F5-E7C6EDED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/>
          <a:lstStyle/>
          <a:p>
            <a:r>
              <a:rPr lang="hu-HU" sz="2400" dirty="0"/>
              <a:t>T</a:t>
            </a:r>
            <a:r>
              <a:rPr lang="en-US" sz="2400" dirty="0"/>
              <a:t>he impact </a:t>
            </a:r>
            <a:r>
              <a:rPr lang="hu-HU" sz="2400" dirty="0"/>
              <a:t>of</a:t>
            </a:r>
            <a:r>
              <a:rPr lang="en-US" sz="2400" dirty="0"/>
              <a:t> terrorism</a:t>
            </a:r>
            <a:r>
              <a:rPr lang="hu-HU" sz="2400" dirty="0"/>
              <a:t> in 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late</a:t>
            </a:r>
            <a:r>
              <a:rPr lang="hu-HU" sz="2400" dirty="0"/>
              <a:t> 1960's</a:t>
            </a:r>
            <a:r>
              <a:rPr lang="en-US" sz="2400" dirty="0"/>
              <a:t> on Basque </a:t>
            </a:r>
            <a:r>
              <a:rPr lang="hu-HU" sz="2400" dirty="0" err="1"/>
              <a:t>Country’s</a:t>
            </a:r>
            <a:r>
              <a:rPr lang="hu-HU" sz="2400" dirty="0"/>
              <a:t> GDP per </a:t>
            </a:r>
            <a:r>
              <a:rPr lang="hu-HU" sz="2400" dirty="0" err="1"/>
              <a:t>capita</a:t>
            </a:r>
            <a:r>
              <a:rPr lang="hu-HU" sz="2400" dirty="0"/>
              <a:t> (</a:t>
            </a:r>
            <a:r>
              <a:rPr lang="hu-HU" sz="2400" dirty="0" err="1"/>
              <a:t>Abadie</a:t>
            </a:r>
            <a:r>
              <a:rPr lang="hu-HU" sz="2400" dirty="0"/>
              <a:t> &amp; </a:t>
            </a:r>
            <a:r>
              <a:rPr lang="hu-HU" sz="2400" dirty="0" err="1"/>
              <a:t>Gardeazabal</a:t>
            </a:r>
            <a:r>
              <a:rPr lang="hu-HU" sz="2400" dirty="0"/>
              <a:t>, 2003)</a:t>
            </a:r>
            <a:endParaRPr lang="hu-HU" sz="2400" noProof="0" dirty="0"/>
          </a:p>
          <a:p>
            <a:r>
              <a:rPr lang="en-GB" sz="2400" noProof="0" dirty="0"/>
              <a:t>The impact of fuel price cap on market prices in Hungary</a:t>
            </a:r>
          </a:p>
          <a:p>
            <a:r>
              <a:rPr lang="en-GB" sz="2400" noProof="0"/>
              <a:t>The </a:t>
            </a:r>
            <a:r>
              <a:rPr lang="en-GB" sz="2400" noProof="0" dirty="0"/>
              <a:t>effect of the tobacco control legislation (1988, California) on cigarette sales </a:t>
            </a:r>
            <a:endParaRPr lang="hu-HU" sz="2400" noProof="0" dirty="0"/>
          </a:p>
          <a:p>
            <a:endParaRPr lang="hu-HU" dirty="0"/>
          </a:p>
          <a:p>
            <a:r>
              <a:rPr lang="hu-HU" i="1" noProof="0" dirty="0" err="1"/>
              <a:t>Case</a:t>
            </a:r>
            <a:r>
              <a:rPr lang="hu-HU" i="1" noProof="0" dirty="0"/>
              <a:t> </a:t>
            </a:r>
            <a:r>
              <a:rPr lang="hu-HU" i="1" noProof="0" dirty="0" err="1"/>
              <a:t>study</a:t>
            </a:r>
            <a:r>
              <a:rPr lang="hu-HU" i="1" noProof="0" dirty="0"/>
              <a:t>: </a:t>
            </a:r>
            <a:r>
              <a:rPr lang="hu-HU" i="1" noProof="0" dirty="0" err="1"/>
              <a:t>only</a:t>
            </a:r>
            <a:r>
              <a:rPr lang="hu-HU" i="1" noProof="0" dirty="0"/>
              <a:t> 1 </a:t>
            </a:r>
            <a:r>
              <a:rPr lang="hu-HU" i="1" noProof="0" dirty="0" err="1"/>
              <a:t>treated</a:t>
            </a:r>
            <a:r>
              <a:rPr lang="hu-HU" i="1" noProof="0" dirty="0"/>
              <a:t> </a:t>
            </a:r>
            <a:r>
              <a:rPr lang="hu-HU" i="1" noProof="0" dirty="0" err="1"/>
              <a:t>subject</a:t>
            </a:r>
            <a:endParaRPr lang="hu-HU" i="1" noProof="0" dirty="0"/>
          </a:p>
          <a:p>
            <a:r>
              <a:rPr lang="hu-HU" i="1" dirty="0" err="1"/>
              <a:t>Comparative</a:t>
            </a:r>
            <a:r>
              <a:rPr lang="hu-HU" i="1" dirty="0"/>
              <a:t>: </a:t>
            </a:r>
            <a:r>
              <a:rPr lang="hu-HU" i="1" dirty="0" err="1"/>
              <a:t>compared</a:t>
            </a:r>
            <a:r>
              <a:rPr lang="hu-HU" i="1" dirty="0"/>
              <a:t> </a:t>
            </a:r>
            <a:r>
              <a:rPr lang="hu-HU" i="1" dirty="0" err="1"/>
              <a:t>to</a:t>
            </a:r>
            <a:r>
              <a:rPr lang="hu-HU" i="1" dirty="0"/>
              <a:t> a </a:t>
            </a:r>
            <a:r>
              <a:rPr lang="hu-HU" i="1" dirty="0" err="1"/>
              <a:t>counterfactual</a:t>
            </a:r>
            <a:endParaRPr lang="hu-HU" i="1" dirty="0"/>
          </a:p>
          <a:p>
            <a:pPr lvl="1"/>
            <a:r>
              <a:rPr lang="hu-HU" noProof="0" dirty="0" err="1"/>
              <a:t>What</a:t>
            </a:r>
            <a:r>
              <a:rPr lang="hu-HU" noProof="0" dirty="0"/>
              <a:t> </a:t>
            </a:r>
            <a:r>
              <a:rPr lang="hu-HU" noProof="0" dirty="0" err="1"/>
              <a:t>should</a:t>
            </a:r>
            <a:r>
              <a:rPr lang="hu-HU" noProof="0" dirty="0"/>
              <a:t> be </a:t>
            </a:r>
            <a:r>
              <a:rPr lang="hu-HU" noProof="0" dirty="0" err="1"/>
              <a:t>the</a:t>
            </a:r>
            <a:r>
              <a:rPr lang="hu-HU" noProof="0" dirty="0"/>
              <a:t> </a:t>
            </a:r>
            <a:r>
              <a:rPr lang="hu-HU" noProof="0" dirty="0" err="1"/>
              <a:t>counterfactual</a:t>
            </a:r>
            <a:r>
              <a:rPr lang="hu-HU" noProof="0" dirty="0"/>
              <a:t>?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9814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2E58F7-FA42-DD82-32BF-BEF2F153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SCM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EA9756-5FAC-2CCE-7DC6-B3B6B3A4E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single treated subject create one</a:t>
            </a:r>
            <a:r>
              <a:rPr lang="hu-HU" dirty="0"/>
              <a:t> </a:t>
            </a:r>
            <a:r>
              <a:rPr lang="hu-HU" dirty="0" err="1"/>
              <a:t>artifical</a:t>
            </a:r>
            <a:r>
              <a:rPr lang="hu-HU" dirty="0"/>
              <a:t> (</a:t>
            </a:r>
            <a:r>
              <a:rPr lang="hu-HU" dirty="0" err="1"/>
              <a:t>synthetic</a:t>
            </a:r>
            <a:r>
              <a:rPr lang="hu-HU" dirty="0"/>
              <a:t>)</a:t>
            </a:r>
            <a:r>
              <a:rPr lang="en-US" dirty="0"/>
              <a:t> control observation</a:t>
            </a:r>
            <a:endParaRPr lang="hu-HU" dirty="0"/>
          </a:p>
          <a:p>
            <a:pPr lvl="1"/>
            <a:r>
              <a:rPr lang="en-US" dirty="0"/>
              <a:t>Control, because it is used to estimate a counterfactual</a:t>
            </a:r>
            <a:endParaRPr lang="hu-HU" dirty="0"/>
          </a:p>
          <a:p>
            <a:pPr lvl="1"/>
            <a:r>
              <a:rPr lang="en-US" dirty="0"/>
              <a:t>Synthetic, because it is not an existing subject, but we create it from </a:t>
            </a:r>
            <a:r>
              <a:rPr lang="en-US" dirty="0" err="1"/>
              <a:t>potentia</a:t>
            </a:r>
            <a:r>
              <a:rPr lang="hu-HU" dirty="0"/>
              <a:t>l </a:t>
            </a:r>
            <a:r>
              <a:rPr lang="en-US" dirty="0"/>
              <a:t>controls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1151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24096E-67B9-DC3E-B7EA-31AF029E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subject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0B6175-D688-5742-4F23-A96848A2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 err="1"/>
              <a:t>Take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potential</a:t>
            </a:r>
            <a:r>
              <a:rPr lang="hu-HU" dirty="0"/>
              <a:t> </a:t>
            </a:r>
            <a:r>
              <a:rPr lang="hu-HU" dirty="0" err="1"/>
              <a:t>controls</a:t>
            </a:r>
            <a:r>
              <a:rPr lang="hu-HU" dirty="0"/>
              <a:t> (donor </a:t>
            </a:r>
            <a:r>
              <a:rPr lang="hu-HU" dirty="0" err="1"/>
              <a:t>pool</a:t>
            </a:r>
            <a:r>
              <a:rPr lang="hu-HU" dirty="0"/>
              <a:t>)</a:t>
            </a:r>
          </a:p>
          <a:p>
            <a:pPr lvl="1" algn="just"/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affected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intervention</a:t>
            </a:r>
            <a:endParaRPr lang="hu-HU" dirty="0"/>
          </a:p>
          <a:p>
            <a:pPr lvl="1" algn="just"/>
            <a:r>
              <a:rPr lang="hu-HU" dirty="0"/>
              <a:t>Maybe </a:t>
            </a:r>
            <a:r>
              <a:rPr lang="hu-HU" dirty="0" err="1"/>
              <a:t>apply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pre-selection</a:t>
            </a:r>
            <a:endParaRPr lang="hu-HU" dirty="0"/>
          </a:p>
          <a:p>
            <a:pPr algn="just"/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one</a:t>
            </a:r>
            <a:r>
              <a:rPr lang="hu-HU" dirty="0"/>
              <a:t> </a:t>
            </a:r>
            <a:r>
              <a:rPr lang="hu-HU" dirty="0" err="1"/>
              <a:t>singe</a:t>
            </a:r>
            <a:r>
              <a:rPr lang="hu-HU" dirty="0"/>
              <a:t> </a:t>
            </a:r>
            <a:r>
              <a:rPr lang="hu-HU" dirty="0" err="1"/>
              <a:t>artifical</a:t>
            </a:r>
            <a:r>
              <a:rPr lang="hu-HU" dirty="0"/>
              <a:t> </a:t>
            </a:r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a </a:t>
            </a:r>
            <a:r>
              <a:rPr lang="hu-HU" dirty="0" err="1"/>
              <a:t>weighted</a:t>
            </a:r>
            <a:r>
              <a:rPr lang="hu-HU" dirty="0"/>
              <a:t> </a:t>
            </a:r>
            <a:r>
              <a:rPr lang="hu-HU" dirty="0" err="1"/>
              <a:t>average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subjects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donor </a:t>
            </a:r>
            <a:r>
              <a:rPr lang="hu-HU" dirty="0" err="1"/>
              <a:t>pool</a:t>
            </a:r>
            <a:endParaRPr lang="hu-HU" dirty="0"/>
          </a:p>
          <a:p>
            <a:pPr lvl="1" algn="just"/>
            <a:r>
              <a:rPr lang="hu-HU" dirty="0" err="1"/>
              <a:t>Weights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non-</a:t>
            </a:r>
            <a:r>
              <a:rPr lang="hu-HU" dirty="0" err="1"/>
              <a:t>negative</a:t>
            </a:r>
            <a:r>
              <a:rPr lang="hu-HU" dirty="0"/>
              <a:t> (</a:t>
            </a:r>
            <a:r>
              <a:rPr lang="hu-HU" dirty="0" err="1"/>
              <a:t>there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a 0 </a:t>
            </a:r>
            <a:r>
              <a:rPr lang="hu-HU" dirty="0" err="1"/>
              <a:t>weight</a:t>
            </a:r>
            <a:r>
              <a:rPr lang="hu-HU" dirty="0"/>
              <a:t>)</a:t>
            </a:r>
          </a:p>
          <a:p>
            <a:pPr lvl="1" algn="just"/>
            <a:r>
              <a:rPr lang="hu-HU" dirty="0"/>
              <a:t>Sum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weights</a:t>
            </a:r>
            <a:r>
              <a:rPr lang="hu-HU" dirty="0"/>
              <a:t> is 1</a:t>
            </a:r>
          </a:p>
          <a:p>
            <a:pPr lvl="1" algn="just"/>
            <a:r>
              <a:rPr lang="hu-HU" dirty="0" err="1"/>
              <a:t>Aim</a:t>
            </a:r>
            <a:r>
              <a:rPr lang="hu-HU" dirty="0"/>
              <a:t>: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is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similar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treated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is </a:t>
            </a:r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i="1" dirty="0" err="1"/>
              <a:t>before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treatment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6027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B4BB3C-8ECB-E612-CC44-6CB3936D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causal</a:t>
            </a:r>
            <a:r>
              <a:rPr lang="hu-HU" dirty="0"/>
              <a:t> </a:t>
            </a:r>
            <a:r>
              <a:rPr lang="hu-HU" dirty="0" err="1"/>
              <a:t>effect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D9281CE-1A9F-B644-A0DF-A9C221EC15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871" y="1796128"/>
                <a:ext cx="10881852" cy="4351338"/>
              </a:xfrm>
            </p:spPr>
            <p:txBody>
              <a:bodyPr/>
              <a:lstStyle/>
              <a:p>
                <a:r>
                  <a:rPr lang="en-US" dirty="0"/>
                  <a:t>Let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</m:oMath>
                </a14:m>
                <a:r>
                  <a:rPr lang="en-US" dirty="0"/>
                  <a:t> be the outcome of interest for unit </a:t>
                </a:r>
                <a:r>
                  <a:rPr lang="hu-HU" i="1" dirty="0"/>
                  <a:t>j</a:t>
                </a:r>
                <a:r>
                  <a:rPr lang="en-US" dirty="0"/>
                  <a:t> of </a:t>
                </a:r>
                <a:r>
                  <a:rPr lang="hu-HU" i="1" dirty="0"/>
                  <a:t>J+1</a:t>
                </a:r>
                <a:r>
                  <a:rPr lang="en-US" dirty="0"/>
                  <a:t> aggregate units at time </a:t>
                </a:r>
                <a:r>
                  <a:rPr lang="hu-HU" i="1" dirty="0"/>
                  <a:t>t</a:t>
                </a:r>
                <a:r>
                  <a:rPr lang="en-US" dirty="0"/>
                  <a:t>, and treatment group be</a:t>
                </a:r>
                <a:r>
                  <a:rPr lang="hu-HU" dirty="0"/>
                  <a:t> </a:t>
                </a:r>
                <a:r>
                  <a:rPr lang="hu-HU" i="1" dirty="0"/>
                  <a:t>j=1</a:t>
                </a:r>
                <a:endParaRPr lang="hu-HU" i="1" dirty="0">
                  <a:latin typeface="Cambria Math" panose="02040503050406030204" pitchFamily="18" charset="0"/>
                </a:endParaRPr>
              </a:p>
              <a:p>
                <a:r>
                  <a:rPr lang="hu-HU" dirty="0"/>
                  <a:t>The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causal</a:t>
                </a:r>
                <a:r>
                  <a:rPr lang="hu-HU" dirty="0"/>
                  <a:t> </a:t>
                </a:r>
                <a:r>
                  <a:rPr lang="hu-HU" dirty="0" err="1"/>
                  <a:t>effect</a:t>
                </a:r>
                <a:r>
                  <a:rPr lang="hu-HU" dirty="0"/>
                  <a:t> in </a:t>
                </a:r>
                <a:r>
                  <a:rPr lang="hu-HU" dirty="0" err="1"/>
                  <a:t>the</a:t>
                </a:r>
                <a:r>
                  <a:rPr lang="hu-HU" dirty="0"/>
                  <a:t> post-</a:t>
                </a:r>
                <a:r>
                  <a:rPr lang="hu-HU" dirty="0" err="1"/>
                  <a:t>treatment</a:t>
                </a:r>
                <a:r>
                  <a:rPr lang="hu-HU" dirty="0"/>
                  <a:t> </a:t>
                </a:r>
                <a:r>
                  <a:rPr lang="hu-HU" dirty="0" err="1"/>
                  <a:t>period</a:t>
                </a:r>
                <a:r>
                  <a:rPr lang="hu-HU" dirty="0"/>
                  <a:t>: </a:t>
                </a:r>
              </a:p>
              <a:p>
                <a:pPr marL="0" indent="0">
                  <a:buNone/>
                </a:pPr>
                <a:endParaRPr lang="hu-H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hu-HU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Sup>
                            <m:sSub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𝑗𝑡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hu-HU" b="0" dirty="0"/>
              </a:p>
              <a:p>
                <a:endParaRPr lang="hu-HU" dirty="0"/>
              </a:p>
              <a:p>
                <a:r>
                  <a:rPr lang="hu-HU" dirty="0" err="1"/>
                  <a:t>E.g</a:t>
                </a:r>
                <a:r>
                  <a:rPr lang="hu-HU" dirty="0"/>
                  <a:t>.: Haiti </a:t>
                </a:r>
                <a:r>
                  <a:rPr lang="hu-HU" dirty="0">
                    <a:sym typeface="Wingdings" panose="05000000000000000000" pitchFamily="2" charset="2"/>
                  </a:rPr>
                  <a:t> 50% </a:t>
                </a:r>
                <a:r>
                  <a:rPr lang="hu-HU" dirty="0" err="1">
                    <a:sym typeface="Wingdings" panose="05000000000000000000" pitchFamily="2" charset="2"/>
                  </a:rPr>
                  <a:t>Switzerland</a:t>
                </a:r>
                <a:r>
                  <a:rPr lang="hu-HU" dirty="0">
                    <a:sym typeface="Wingdings" panose="05000000000000000000" pitchFamily="2" charset="2"/>
                  </a:rPr>
                  <a:t> + 50% </a:t>
                </a:r>
                <a:r>
                  <a:rPr lang="hu-HU" dirty="0" err="1">
                    <a:sym typeface="Wingdings" panose="05000000000000000000" pitchFamily="2" charset="2"/>
                  </a:rPr>
                  <a:t>Russia</a:t>
                </a:r>
                <a:r>
                  <a:rPr lang="hu-HU" dirty="0">
                    <a:sym typeface="Wingdings" panose="05000000000000000000" pitchFamily="2" charset="2"/>
                  </a:rPr>
                  <a:t> ???</a:t>
                </a:r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D9281CE-1A9F-B644-A0DF-A9C221EC1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871" y="1796128"/>
                <a:ext cx="10881852" cy="4351338"/>
              </a:xfrm>
              <a:blipFill>
                <a:blip r:embed="rId2"/>
                <a:stretch>
                  <a:fillRect l="-1008" t="-21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65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2A338E-B93B-78B9-81C8-D9E38333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Predictors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FBAE14-F0FE-534B-C905-2119F319A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Predictors</a:t>
            </a:r>
            <a:r>
              <a:rPr lang="hu-HU" dirty="0"/>
              <a:t> (</a:t>
            </a:r>
            <a:r>
              <a:rPr lang="hu-HU" i="1" dirty="0"/>
              <a:t>X</a:t>
            </a:r>
            <a:r>
              <a:rPr lang="hu-HU" dirty="0"/>
              <a:t>)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to</a:t>
            </a:r>
            <a:endParaRPr lang="hu-HU" dirty="0"/>
          </a:p>
          <a:p>
            <a:pPr lvl="1" algn="just"/>
            <a:r>
              <a:rPr lang="hu-HU" dirty="0" err="1"/>
              <a:t>capture</a:t>
            </a:r>
            <a:r>
              <a:rPr lang="hu-HU" dirty="0"/>
              <a:t> </a:t>
            </a:r>
            <a:r>
              <a:rPr lang="hu-HU" dirty="0" err="1"/>
              <a:t>structural</a:t>
            </a:r>
            <a:r>
              <a:rPr lang="hu-HU" dirty="0"/>
              <a:t> </a:t>
            </a:r>
            <a:r>
              <a:rPr lang="hu-HU" dirty="0" err="1"/>
              <a:t>similarities</a:t>
            </a:r>
            <a:r>
              <a:rPr lang="hu-HU" dirty="0"/>
              <a:t> (</a:t>
            </a:r>
            <a:r>
              <a:rPr lang="en-US" dirty="0"/>
              <a:t>the synthetic control resembles the treated </a:t>
            </a:r>
            <a:r>
              <a:rPr lang="hu-HU" dirty="0" err="1"/>
              <a:t>subject</a:t>
            </a:r>
            <a:r>
              <a:rPr lang="en-US" dirty="0"/>
              <a:t> not just in outcomes but also in factors that influence those outcomes</a:t>
            </a:r>
            <a:r>
              <a:rPr lang="hu-HU" dirty="0"/>
              <a:t>)</a:t>
            </a:r>
          </a:p>
          <a:p>
            <a:pPr lvl="1" algn="just"/>
            <a:r>
              <a:rPr lang="hu-HU" dirty="0" err="1"/>
              <a:t>reduce</a:t>
            </a:r>
            <a:r>
              <a:rPr lang="hu-HU" dirty="0"/>
              <a:t> </a:t>
            </a:r>
            <a:r>
              <a:rPr lang="hu-HU" dirty="0" err="1"/>
              <a:t>bias</a:t>
            </a:r>
            <a:r>
              <a:rPr lang="hu-HU" dirty="0"/>
              <a:t> (o</a:t>
            </a:r>
            <a:r>
              <a:rPr lang="en-US" dirty="0" err="1"/>
              <a:t>utcomes</a:t>
            </a:r>
            <a:r>
              <a:rPr lang="en-US" dirty="0"/>
              <a:t> are often influenced by multiple factors beyond the treatment</a:t>
            </a:r>
            <a:r>
              <a:rPr lang="hu-HU" dirty="0"/>
              <a:t>)</a:t>
            </a:r>
          </a:p>
          <a:p>
            <a:pPr lvl="1" algn="just"/>
            <a:r>
              <a:rPr lang="hu-HU" dirty="0" err="1"/>
              <a:t>prevent</a:t>
            </a:r>
            <a:r>
              <a:rPr lang="hu-HU" dirty="0"/>
              <a:t> overfitting (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en-US" dirty="0"/>
              <a:t>noise in the outcome variable during the pre-treatment period</a:t>
            </a:r>
            <a:r>
              <a:rPr lang="hu-HU" dirty="0"/>
              <a:t>)</a:t>
            </a:r>
          </a:p>
          <a:p>
            <a:r>
              <a:rPr lang="hu-HU" dirty="0" err="1"/>
              <a:t>Weights</a:t>
            </a:r>
            <a:r>
              <a:rPr lang="hu-HU" dirty="0"/>
              <a:t> (</a:t>
            </a:r>
            <a:r>
              <a:rPr lang="hu-HU" i="1" dirty="0"/>
              <a:t>V</a:t>
            </a:r>
            <a:r>
              <a:rPr lang="hu-HU" dirty="0"/>
              <a:t>)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assigned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predictors</a:t>
            </a:r>
            <a:endParaRPr lang="hu-HU" dirty="0"/>
          </a:p>
          <a:p>
            <a:pPr lvl="1"/>
            <a:r>
              <a:rPr lang="hu-HU" dirty="0" err="1"/>
              <a:t>These</a:t>
            </a:r>
            <a:r>
              <a:rPr lang="hu-HU" dirty="0"/>
              <a:t> </a:t>
            </a:r>
            <a:r>
              <a:rPr lang="hu-HU" dirty="0" err="1"/>
              <a:t>represent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predictive</a:t>
            </a:r>
            <a:r>
              <a:rPr lang="hu-HU" dirty="0"/>
              <a:t> </a:t>
            </a:r>
            <a:r>
              <a:rPr lang="hu-HU" dirty="0" err="1"/>
              <a:t>power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predictors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1968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6F6938-8AEC-A33B-2136-0C3FB767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Weights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everywhere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CFC8898-4158-B325-3A83-7D8FE0860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u-HU" i="1" dirty="0"/>
                  <a:t>W</a:t>
                </a:r>
                <a:r>
                  <a:rPr lang="hu-HU" dirty="0"/>
                  <a:t> </a:t>
                </a:r>
                <a:r>
                  <a:rPr lang="en-US" dirty="0"/>
                  <a:t>is a vector of non-negative weights assigned to control units</a:t>
                </a:r>
                <a:r>
                  <a:rPr lang="hu-HU" dirty="0"/>
                  <a:t>.</a:t>
                </a:r>
              </a:p>
              <a:p>
                <a:r>
                  <a:rPr lang="hu-HU" dirty="0" err="1"/>
                  <a:t>Calculation</a:t>
                </a:r>
                <a:r>
                  <a:rPr lang="hu-HU" dirty="0"/>
                  <a:t> of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optimal</a:t>
                </a:r>
                <a:r>
                  <a:rPr lang="hu-HU" dirty="0"/>
                  <a:t> </a:t>
                </a:r>
                <a:r>
                  <a:rPr lang="hu-HU" i="1" dirty="0"/>
                  <a:t>W </a:t>
                </a:r>
                <a:r>
                  <a:rPr lang="hu-HU" dirty="0" err="1"/>
                  <a:t>weights</a:t>
                </a:r>
                <a:r>
                  <a:rPr lang="hu-HU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u-HU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endParaRPr lang="hu-H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u-HU" dirty="0"/>
                  <a:t> </a:t>
                </a:r>
                <a:r>
                  <a:rPr lang="en-US" dirty="0"/>
                  <a:t>is a </a:t>
                </a:r>
                <a14:m>
                  <m:oMath xmlns:m="http://schemas.openxmlformats.org/officeDocument/2006/math">
                    <m:r>
                      <a:rPr lang="hu-HU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hu-H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 vector of pre-treatment characteristics for the treated unit</a:t>
                </a:r>
                <a:endParaRPr lang="hu-H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 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hu-H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hu-H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 </a:t>
                </a:r>
                <a:r>
                  <a:rPr lang="hu-HU" dirty="0"/>
                  <a:t>matrix</a:t>
                </a:r>
                <a:r>
                  <a:rPr lang="en-US" dirty="0"/>
                  <a:t> of pre-treatment characteristics for the </a:t>
                </a:r>
                <a:r>
                  <a:rPr lang="hu-HU" dirty="0"/>
                  <a:t>donor </a:t>
                </a:r>
                <a:r>
                  <a:rPr lang="hu-HU" dirty="0" err="1"/>
                  <a:t>units</a:t>
                </a:r>
                <a:endParaRPr lang="hu-HU" dirty="0"/>
              </a:p>
              <a:p>
                <a:pPr lvl="1"/>
                <a:r>
                  <a:rPr lang="hu-HU" dirty="0" err="1"/>
                  <a:t>Common</a:t>
                </a:r>
                <a:r>
                  <a:rPr lang="hu-HU" dirty="0"/>
                  <a:t> </a:t>
                </a:r>
                <a:r>
                  <a:rPr lang="hu-HU" dirty="0" err="1"/>
                  <a:t>approach</a:t>
                </a:r>
                <a:r>
                  <a:rPr lang="hu-HU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lim>
                        </m:limLow>
                      </m:fName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nary>
                              <m:naryPr>
                                <m:chr m:val="∑"/>
                                <m:ctrlPr>
                                  <a:rPr lang="hu-HU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hu-HU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hu-H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−.. .−</m:t>
                                    </m:r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h𝐽</m:t>
                                        </m:r>
                                        <m:r>
                                          <a:rPr lang="hu-HU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hu-H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nary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e>
                    </m:func>
                  </m:oMath>
                </a14:m>
                <a:endParaRPr lang="hu-HU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u-HU" dirty="0"/>
                  <a:t>r</a:t>
                </a:r>
                <a:r>
                  <a:rPr lang="en-US" dirty="0"/>
                  <a:t>epresents the predictive power of each pre-treatment characteristic on</a:t>
                </a:r>
                <a:r>
                  <a:rPr lang="hu-HU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CFC8898-4158-B325-3A83-7D8FE0860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14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E1D8A1-BCAC-47AE-AF55-BF2C0D325B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Estimating the effect of the 2010 Haiti Earthquake on GDP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B4870D-4E1D-4BF1-9642-B959493129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</a:t>
            </a:r>
            <a:r>
              <a:rPr lang="hu-HU" dirty="0"/>
              <a:t>4</a:t>
            </a:r>
            <a:endParaRPr lang="en-US" dirty="0"/>
          </a:p>
          <a:p>
            <a:endParaRPr lang="en-US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4635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F49A2D5-C17C-8187-7E26-5A765C19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Setting</a:t>
            </a:r>
            <a:endParaRPr lang="hu-HU" dirty="0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DB1F564-8040-3FF7-CC0E-5E7043B3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8633"/>
          </a:xfrm>
        </p:spPr>
        <p:txBody>
          <a:bodyPr/>
          <a:lstStyle/>
          <a:p>
            <a:r>
              <a:rPr lang="en-US" dirty="0"/>
              <a:t>January 2010: a strong earthquake hit Haiti</a:t>
            </a:r>
          </a:p>
          <a:p>
            <a:r>
              <a:rPr lang="en-US" dirty="0"/>
              <a:t>Question: What was the effect of the earthquake on GDP?</a:t>
            </a:r>
          </a:p>
          <a:p>
            <a:pPr lvl="1"/>
            <a:r>
              <a:rPr lang="en-US" dirty="0"/>
              <a:t>Death toll (100,000 people died)</a:t>
            </a:r>
          </a:p>
          <a:p>
            <a:pPr lvl="1"/>
            <a:r>
              <a:rPr lang="en-US" dirty="0"/>
              <a:t>Many survivors emigrated</a:t>
            </a:r>
          </a:p>
          <a:p>
            <a:pPr lvl="1"/>
            <a:r>
              <a:rPr lang="en-US" dirty="0"/>
              <a:t>Infrastructure was destroyed</a:t>
            </a:r>
          </a:p>
          <a:p>
            <a:pPr lvl="1"/>
            <a:r>
              <a:rPr lang="en-US" dirty="0" err="1"/>
              <a:t>Deseases</a:t>
            </a:r>
            <a:r>
              <a:rPr lang="en-US" dirty="0"/>
              <a:t> and </a:t>
            </a:r>
            <a:r>
              <a:rPr lang="en-US" dirty="0" err="1"/>
              <a:t>malnutrion</a:t>
            </a:r>
            <a:r>
              <a:rPr lang="en-US" dirty="0"/>
              <a:t> of survivors </a:t>
            </a:r>
            <a:r>
              <a:rPr lang="hu-HU" dirty="0">
                <a:sym typeface="Wingdings" panose="05000000000000000000" pitchFamily="2" charset="2"/>
              </a:rPr>
              <a:t></a:t>
            </a:r>
            <a:r>
              <a:rPr lang="hu-HU" dirty="0"/>
              <a:t> </a:t>
            </a:r>
            <a:r>
              <a:rPr lang="en-US" dirty="0"/>
              <a:t>decreased productivity</a:t>
            </a:r>
          </a:p>
          <a:p>
            <a:endParaRPr lang="hu-HU" dirty="0"/>
          </a:p>
          <a:p>
            <a:r>
              <a:rPr lang="en-US" dirty="0"/>
              <a:t>Outcome variable: GDP at constant (2010) prices</a:t>
            </a:r>
          </a:p>
          <a:p>
            <a:r>
              <a:rPr lang="en-US" dirty="0"/>
              <a:t>Post-intervention time: 2010-2015</a:t>
            </a:r>
            <a:endParaRPr lang="hu-HU" dirty="0"/>
          </a:p>
          <a:p>
            <a:r>
              <a:rPr lang="hu-HU" dirty="0"/>
              <a:t>Data: </a:t>
            </a:r>
            <a:r>
              <a:rPr lang="hu-HU" dirty="0">
                <a:hlinkClick r:id="rId2"/>
              </a:rPr>
              <a:t>https://osf.io/sdj62/download</a:t>
            </a:r>
            <a:r>
              <a:rPr lang="hu-HU" dirty="0"/>
              <a:t> </a:t>
            </a:r>
            <a:endParaRPr lang="en-US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165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F0A91E-FBA0-3723-5145-61F70E61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shock</a:t>
            </a:r>
            <a:endParaRPr lang="hu-HU" dirty="0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19DF0524-8A11-D110-3306-BCD87370D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6012" y="1326745"/>
            <a:ext cx="7099975" cy="51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7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DA3ADE-6D69-5E8B-4325-249C4E9A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donor </a:t>
            </a:r>
            <a:r>
              <a:rPr lang="hu-HU" dirty="0" err="1"/>
              <a:t>pool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9C09CB-AA1B-D7FD-23C0-54E1CDBF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22 countries that </a:t>
            </a:r>
            <a:endParaRPr lang="hu-HU" dirty="0"/>
          </a:p>
          <a:p>
            <a:pPr lvl="1"/>
            <a:r>
              <a:rPr lang="en-US" dirty="0"/>
              <a:t>have GDP per capita below USD (PPP) 4000 in 2009, </a:t>
            </a:r>
            <a:endParaRPr lang="hu-HU" dirty="0"/>
          </a:p>
          <a:p>
            <a:pPr lvl="1"/>
            <a:r>
              <a:rPr lang="en-US" dirty="0"/>
              <a:t>and have all the necessary data for the period 2004-2015.</a:t>
            </a:r>
          </a:p>
          <a:p>
            <a:endParaRPr lang="en-US" dirty="0"/>
          </a:p>
          <a:p>
            <a:pPr algn="just"/>
            <a:r>
              <a:rPr lang="en-US" dirty="0"/>
              <a:t>Confounder variables are key geographical and macroeconomic variables: land size, population, GDP per capita, exports, imports, consumption, gross capital formation, and inflation.</a:t>
            </a:r>
            <a:endParaRPr lang="hu-HU" dirty="0"/>
          </a:p>
          <a:p>
            <a:pPr algn="just"/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707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538</Words>
  <Application>Microsoft Office PowerPoint</Application>
  <PresentationFormat>Szélesvásznú</PresentationFormat>
  <Paragraphs>64</Paragraphs>
  <Slides>11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Georgia</vt:lpstr>
      <vt:lpstr>Wingdings</vt:lpstr>
      <vt:lpstr>Office-téma</vt:lpstr>
      <vt:lpstr>The synthetic control method</vt:lpstr>
      <vt:lpstr>Comparative case study</vt:lpstr>
      <vt:lpstr>The SCM</vt:lpstr>
      <vt:lpstr>The control subject</vt:lpstr>
      <vt:lpstr>The causal effect</vt:lpstr>
      <vt:lpstr>Predictors</vt:lpstr>
      <vt:lpstr>Weights are everywhere</vt:lpstr>
      <vt:lpstr>Estimating the effect of the 2010 Haiti Earthquake on GDP</vt:lpstr>
      <vt:lpstr>Setting</vt:lpstr>
      <vt:lpstr>The shock</vt:lpstr>
      <vt:lpstr>The donor pool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Tőkés László János</dc:creator>
  <cp:lastModifiedBy>Tőkés László János</cp:lastModifiedBy>
  <cp:revision>1</cp:revision>
  <dcterms:created xsi:type="dcterms:W3CDTF">2025-12-03T07:28:25Z</dcterms:created>
  <dcterms:modified xsi:type="dcterms:W3CDTF">2025-12-08T09:54:54Z</dcterms:modified>
</cp:coreProperties>
</file>