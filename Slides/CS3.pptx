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2" r:id="rId2"/>
    <p:sldMasterId id="2147483746" r:id="rId3"/>
    <p:sldMasterId id="2147483751" r:id="rId4"/>
    <p:sldMasterId id="2147483749" r:id="rId5"/>
    <p:sldMasterId id="2147483754" r:id="rId6"/>
  </p:sldMasterIdLst>
  <p:notesMasterIdLst>
    <p:notesMasterId r:id="rId12"/>
  </p:notesMasterIdLst>
  <p:handoutMasterIdLst>
    <p:handoutMasterId r:id="rId13"/>
  </p:handoutMasterIdLst>
  <p:sldIdLst>
    <p:sldId id="256" r:id="rId7"/>
    <p:sldId id="262" r:id="rId8"/>
    <p:sldId id="266" r:id="rId9"/>
    <p:sldId id="267" r:id="rId10"/>
    <p:sldId id="258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873"/>
    <a:srgbClr val="78748A"/>
    <a:srgbClr val="4D4B66"/>
    <a:srgbClr val="898E97"/>
    <a:srgbClr val="D1AF84"/>
    <a:srgbClr val="101226"/>
    <a:srgbClr val="BF8F55"/>
    <a:srgbClr val="F5C832"/>
    <a:srgbClr val="0C8843"/>
    <a:srgbClr val="D22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3D260-4F81-48CC-B6C7-3A4B689876EF}" v="1" dt="2025-11-30T12:45:15.3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2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őkés László János" userId="66d05c4e-82b5-4a05-93ab-1d0acbb09014" providerId="ADAL" clId="{8EF9FDA8-5BFA-4882-A82F-7F64C54494E3}"/>
    <pc:docChg chg="modSld">
      <pc:chgData name="Tőkés László János" userId="66d05c4e-82b5-4a05-93ab-1d0acbb09014" providerId="ADAL" clId="{8EF9FDA8-5BFA-4882-A82F-7F64C54494E3}" dt="2025-11-30T12:45:15.350" v="38"/>
      <pc:docMkLst>
        <pc:docMk/>
      </pc:docMkLst>
      <pc:sldChg chg="modSp mod">
        <pc:chgData name="Tőkés László János" userId="66d05c4e-82b5-4a05-93ab-1d0acbb09014" providerId="ADAL" clId="{8EF9FDA8-5BFA-4882-A82F-7F64C54494E3}" dt="2025-11-30T12:45:15.350" v="38"/>
        <pc:sldMkLst>
          <pc:docMk/>
          <pc:sldMk cId="3728127031" sldId="267"/>
        </pc:sldMkLst>
        <pc:spChg chg="mod">
          <ac:chgData name="Tőkés László János" userId="66d05c4e-82b5-4a05-93ab-1d0acbb09014" providerId="ADAL" clId="{8EF9FDA8-5BFA-4882-A82F-7F64C54494E3}" dt="2025-11-30T12:45:15.350" v="38"/>
          <ac:spMkLst>
            <pc:docMk/>
            <pc:sldMk cId="3728127031" sldId="267"/>
            <ac:spMk id="3" creationId="{10191CF2-2294-9E2F-5BD5-4247DCF22C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CB8A5F8E-55AF-4885-A2EC-90E3B4EA07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8C9AF74-E70B-4456-A70C-DA4D5E5C97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6CC4A-8218-4BDA-98A5-A5996A95B397}" type="datetimeFigureOut">
              <a:rPr lang="hu-HU" smtClean="0"/>
              <a:t>2025. 11. 30.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F90E50F-7A6E-4FC2-96AB-F5E54844B4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FC1F0FF-6110-4F17-A725-AC394804EF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2F92F-F94A-4D17-913F-9AB619DC0A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271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23FB2-ADFE-4D94-8D0C-BCB533AF8BD6}" type="datetimeFigureOut">
              <a:rPr lang="hu-HU" smtClean="0"/>
              <a:t>2025. 11. 30.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C260B-2877-4559-9AFC-56C12A6E943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910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600201"/>
            <a:ext cx="9144000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602038"/>
            <a:ext cx="7389841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 i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168CCA1-A3E8-48EC-AA71-6C3EC07B5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0000">
            <a:off x="8612223" y="3585940"/>
            <a:ext cx="2544996" cy="2544996"/>
          </a:xfrm>
          <a:prstGeom prst="rect">
            <a:avLst/>
          </a:prstGeom>
        </p:spPr>
      </p:pic>
      <p:sp>
        <p:nvSpPr>
          <p:cNvPr id="13" name="Szöveg helye 12">
            <a:extLst>
              <a:ext uri="{FF2B5EF4-FFF2-40B4-BE49-F238E27FC236}">
                <a16:creationId xmlns:a16="http://schemas.microsoft.com/office/drawing/2014/main" id="{E7C88084-184B-4E45-86E3-B471C8510B1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00212"/>
            <a:ext cx="7389841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Author</a:t>
            </a:r>
            <a:r>
              <a:rPr lang="hu-HU" dirty="0"/>
              <a:t>: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EFD3DBF-40CF-4739-B3A5-EDB6B02D5C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4" y="1600201"/>
            <a:ext cx="10372725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latin typeface="Georgia" panose="02040502050405020303" pitchFamily="18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4" y="3602038"/>
            <a:ext cx="7347164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4483763A-786D-4D99-8200-86D8AA433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28238" y="3301340"/>
            <a:ext cx="3107796" cy="3107796"/>
          </a:xfrm>
          <a:prstGeom prst="rect">
            <a:avLst/>
          </a:prstGeom>
        </p:spPr>
      </p:pic>
      <p:sp>
        <p:nvSpPr>
          <p:cNvPr id="12" name="Szöveg helye 12">
            <a:extLst>
              <a:ext uri="{FF2B5EF4-FFF2-40B4-BE49-F238E27FC236}">
                <a16:creationId xmlns:a16="http://schemas.microsoft.com/office/drawing/2014/main" id="{B7074CB3-3F50-4498-9366-DB66EA36469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30837"/>
            <a:ext cx="7372352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Author</a:t>
            </a:r>
            <a:r>
              <a:rPr lang="hu-HU" dirty="0"/>
              <a:t>: </a:t>
            </a:r>
          </a:p>
        </p:txBody>
      </p:sp>
      <p:pic>
        <p:nvPicPr>
          <p:cNvPr id="7" name="Kép 8">
            <a:extLst>
              <a:ext uri="{FF2B5EF4-FFF2-40B4-BE49-F238E27FC236}">
                <a16:creationId xmlns:a16="http://schemas.microsoft.com/office/drawing/2014/main" id="{16EF7075-5098-4392-943F-445B683CEF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C12F70C-DEAB-4161-816B-05AA0DC262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898A189-3D20-4F4D-A083-1E28FA59D1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49180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796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C12F70C-DEAB-4161-816B-05AA0DC262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898A189-3D20-4F4D-A083-1E28FA59D1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49180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715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5C9ED1-93FB-4E78-BFEE-EA8A879C0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3A47545A-9C82-48FE-888A-F1646D07DEB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281" y="1438275"/>
            <a:ext cx="11354661" cy="493394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1800"/>
            </a:lvl1pPr>
            <a:lvl2pPr marL="457200" indent="0">
              <a:buClr>
                <a:schemeClr val="tx2"/>
              </a:buClr>
              <a:buFontTx/>
              <a:buNone/>
              <a:defRPr/>
            </a:lvl2pPr>
            <a:lvl3pPr marL="914400" indent="0">
              <a:buClr>
                <a:schemeClr val="tx2"/>
              </a:buClr>
              <a:buFontTx/>
              <a:buNone/>
              <a:defRPr/>
            </a:lvl3pPr>
            <a:lvl4pPr marL="1371600" indent="0">
              <a:buClr>
                <a:schemeClr val="tx2"/>
              </a:buClr>
              <a:buFontTx/>
              <a:buNone/>
              <a:defRPr/>
            </a:lvl4pPr>
            <a:lvl5pPr marL="1828800" indent="0">
              <a:buClr>
                <a:schemeClr val="tx2"/>
              </a:buClr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20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77C7DD-753C-4480-8A88-31DD72BB5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A2AA9D71-7A9E-44F1-B04A-C78FC24F54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1676450"/>
            <a:ext cx="5400000" cy="46799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F3731E7-1BE0-48B4-8CE8-7F278A987E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511" y="1676450"/>
            <a:ext cx="5400000" cy="46799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0720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8A6139-837B-486C-9F9D-FD026A144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DB9C19B2-BC3F-48F4-8715-BA3F9948FE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1676450"/>
            <a:ext cx="5400000" cy="4679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C832"/>
              </a:buClr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02D566E-9CAB-4BD2-AE83-56E6840E8D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942" y="1676450"/>
            <a:ext cx="5400000" cy="4679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98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di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0A3E11-626E-4EB5-BFCF-1F3DB09F06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23907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56A7D9-412D-44DA-80B0-6148D63D6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Diagram helye 5">
            <a:extLst>
              <a:ext uri="{FF2B5EF4-FFF2-40B4-BE49-F238E27FC236}">
                <a16:creationId xmlns:a16="http://schemas.microsoft.com/office/drawing/2014/main" id="{A7BE49BF-D86D-47F9-B01A-F04DAE572539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468000" y="3960000"/>
            <a:ext cx="11397600" cy="2565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</a:t>
            </a:r>
            <a:r>
              <a:rPr lang="hu-HU" dirty="0"/>
              <a:t>diagram </a:t>
            </a:r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87642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0A3E11-626E-4EB5-BFCF-1F3DB09F06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97600" cy="23907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56A7D9-412D-44DA-80B0-6148D63D6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2441E63B-D587-46FB-B92F-4DF3662A7CA9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68000" y="3960000"/>
            <a:ext cx="11397600" cy="2457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edit table icon</a:t>
            </a:r>
          </a:p>
        </p:txBody>
      </p:sp>
    </p:spTree>
    <p:extLst>
      <p:ext uri="{BB962C8B-B14F-4D97-AF65-F5344CB8AC3E}">
        <p14:creationId xmlns:p14="http://schemas.microsoft.com/office/powerpoint/2010/main" val="58264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54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26942" y="2361300"/>
            <a:ext cx="54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6999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artalom helye 6">
            <a:extLst>
              <a:ext uri="{FF2B5EF4-FFF2-40B4-BE49-F238E27FC236}">
                <a16:creationId xmlns:a16="http://schemas.microsoft.com/office/drawing/2014/main" id="{B5A9C7AB-49B8-4DC3-944F-0E04F1BB40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88974"/>
            <a:ext cx="5400000" cy="39674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54ADE77F-8F11-4A65-8AC1-F52DBD88A34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21317" y="2388974"/>
            <a:ext cx="5400000" cy="39674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362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29720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2861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431" y="847575"/>
            <a:ext cx="3600000" cy="5718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/>
              <a:t>Numbering</a:t>
            </a:r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zöveg helye 3">
            <a:extLst>
              <a:ext uri="{FF2B5EF4-FFF2-40B4-BE49-F238E27FC236}">
                <a16:creationId xmlns:a16="http://schemas.microsoft.com/office/drawing/2014/main" id="{E28104EE-F1DC-4424-9B48-FE3658EC5D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7883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4" name="Szöveg helye 3">
            <a:extLst>
              <a:ext uri="{FF2B5EF4-FFF2-40B4-BE49-F238E27FC236}">
                <a16:creationId xmlns:a16="http://schemas.microsoft.com/office/drawing/2014/main" id="{546FFA6A-85A0-4F5D-A260-F96DC8A8F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5166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69ED1598-87DB-4D41-A19E-CAAC7DDB42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5166" y="826216"/>
            <a:ext cx="3596151" cy="5718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8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Numbering</a:t>
            </a:r>
          </a:p>
        </p:txBody>
      </p:sp>
      <p:sp>
        <p:nvSpPr>
          <p:cNvPr id="19" name="Szöveg helye 3">
            <a:extLst>
              <a:ext uri="{FF2B5EF4-FFF2-40B4-BE49-F238E27FC236}">
                <a16:creationId xmlns:a16="http://schemas.microsoft.com/office/drawing/2014/main" id="{008C70E5-6C05-4139-9CE8-37D9CB47C3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7883" y="847575"/>
            <a:ext cx="3596151" cy="571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8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Numbering</a:t>
            </a:r>
          </a:p>
        </p:txBody>
      </p:sp>
    </p:spTree>
    <p:extLst>
      <p:ext uri="{BB962C8B-B14F-4D97-AF65-F5344CB8AC3E}">
        <p14:creationId xmlns:p14="http://schemas.microsoft.com/office/powerpoint/2010/main" val="3323537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9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D0674F-3698-4C62-873C-C684583F741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63723" y="128645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2.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38A67DE-6F39-470E-8387-BDE6A5E7541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073710" y="1286583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3.</a:t>
            </a:r>
            <a:endParaRPr lang="en-US" dirty="0"/>
          </a:p>
        </p:txBody>
      </p:sp>
      <p:sp>
        <p:nvSpPr>
          <p:cNvPr id="7" name="Szöveg helye 7">
            <a:extLst>
              <a:ext uri="{FF2B5EF4-FFF2-40B4-BE49-F238E27FC236}">
                <a16:creationId xmlns:a16="http://schemas.microsoft.com/office/drawing/2014/main" id="{0DF119E4-5278-43E2-9C19-066BA5749E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1047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C976B6BF-E09A-4E49-A9FD-195850241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271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20D801-18A2-4519-892E-EC392A9933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363723" y="2767015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5.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D60C8E7-5F58-4B56-81F5-9E789DB8A0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3710" y="2767145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6.</a:t>
            </a:r>
            <a:endParaRPr lang="en-US" dirty="0"/>
          </a:p>
        </p:txBody>
      </p:sp>
      <p:sp>
        <p:nvSpPr>
          <p:cNvPr id="11" name="Szöveg helye 7">
            <a:extLst>
              <a:ext uri="{FF2B5EF4-FFF2-40B4-BE49-F238E27FC236}">
                <a16:creationId xmlns:a16="http://schemas.microsoft.com/office/drawing/2014/main" id="{98CA84C7-6891-4CD1-BC33-A902F2418C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1047" y="3402206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2" name="Szöveg helye 7">
            <a:extLst>
              <a:ext uri="{FF2B5EF4-FFF2-40B4-BE49-F238E27FC236}">
                <a16:creationId xmlns:a16="http://schemas.microsoft.com/office/drawing/2014/main" id="{A8E33CB9-B7A0-4A74-8A05-0236549C87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56271" y="3402206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DC4D8D4-E0F1-4194-9D47-7C7D04ED189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5324" y="128645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1.</a:t>
            </a:r>
            <a:endParaRPr lang="en-US" dirty="0"/>
          </a:p>
        </p:txBody>
      </p:sp>
      <p:sp>
        <p:nvSpPr>
          <p:cNvPr id="14" name="Szöveg helye 7">
            <a:extLst>
              <a:ext uri="{FF2B5EF4-FFF2-40B4-BE49-F238E27FC236}">
                <a16:creationId xmlns:a16="http://schemas.microsoft.com/office/drawing/2014/main" id="{83A130E6-4072-4493-887F-7160AC79BAD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648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71BB7C-1F8F-4860-B7B3-F4BBF9AFB58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5324" y="277248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4.</a:t>
            </a:r>
            <a:endParaRPr lang="en-US" dirty="0"/>
          </a:p>
        </p:txBody>
      </p:sp>
      <p:sp>
        <p:nvSpPr>
          <p:cNvPr id="16" name="Szöveg helye 7">
            <a:extLst>
              <a:ext uri="{FF2B5EF4-FFF2-40B4-BE49-F238E27FC236}">
                <a16:creationId xmlns:a16="http://schemas.microsoft.com/office/drawing/2014/main" id="{0BA7F94B-C6FC-429D-9185-0577CDA9508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2648" y="34076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DDBE87F-7C32-4BC5-B533-4232C71D3DB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363723" y="425838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8.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4A58838-1207-403A-9698-3482DC3711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3710" y="4258513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9.</a:t>
            </a:r>
            <a:endParaRPr lang="en-US" dirty="0"/>
          </a:p>
        </p:txBody>
      </p:sp>
      <p:sp>
        <p:nvSpPr>
          <p:cNvPr id="19" name="Szöveg helye 7">
            <a:extLst>
              <a:ext uri="{FF2B5EF4-FFF2-40B4-BE49-F238E27FC236}">
                <a16:creationId xmlns:a16="http://schemas.microsoft.com/office/drawing/2014/main" id="{ECBA7B46-E9BE-4AD9-AF52-511C8DCB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1047" y="48935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0" name="Szöveg helye 7">
            <a:extLst>
              <a:ext uri="{FF2B5EF4-FFF2-40B4-BE49-F238E27FC236}">
                <a16:creationId xmlns:a16="http://schemas.microsoft.com/office/drawing/2014/main" id="{17483462-AAED-42E3-85A0-71224533AE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56271" y="48935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48EE39E-4602-42B8-A3CA-8353BF73F4D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55324" y="4263851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7.</a:t>
            </a:r>
            <a:endParaRPr lang="en-US" dirty="0"/>
          </a:p>
        </p:txBody>
      </p:sp>
      <p:sp>
        <p:nvSpPr>
          <p:cNvPr id="22" name="Szöveg helye 7">
            <a:extLst>
              <a:ext uri="{FF2B5EF4-FFF2-40B4-BE49-F238E27FC236}">
                <a16:creationId xmlns:a16="http://schemas.microsoft.com/office/drawing/2014/main" id="{F58F9C52-BD9A-40A2-8CF2-3F060160D5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648" y="4899042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928803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12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74AE8FD-34DC-4E0D-BD1A-0EB356C468D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96913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1.</a:t>
            </a:r>
            <a:endParaRPr lang="en-US" dirty="0"/>
          </a:p>
        </p:txBody>
      </p:sp>
      <p:sp>
        <p:nvSpPr>
          <p:cNvPr id="6" name="Szöveg helye 7">
            <a:extLst>
              <a:ext uri="{FF2B5EF4-FFF2-40B4-BE49-F238E27FC236}">
                <a16:creationId xmlns:a16="http://schemas.microsoft.com/office/drawing/2014/main" id="{5CA47AFC-36CE-4BD9-BE58-4D3F1CE533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4236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944A7D8-1BD8-4C88-A64E-AC44D916F82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96912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5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000494A7-FF9A-409E-A04E-B77A78C4CA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4236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B35BAF-68CA-4EC3-935E-9C1AF7DB007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6912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9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0" name="Szöveg helye 7">
            <a:extLst>
              <a:ext uri="{FF2B5EF4-FFF2-40B4-BE49-F238E27FC236}">
                <a16:creationId xmlns:a16="http://schemas.microsoft.com/office/drawing/2014/main" id="{98AD58FE-249A-41A5-8839-DB14B58A38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7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6B728B-3B21-42E5-803E-A1814D08CF5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396066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2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2" name="Szöveg helye 7">
            <a:extLst>
              <a:ext uri="{FF2B5EF4-FFF2-40B4-BE49-F238E27FC236}">
                <a16:creationId xmlns:a16="http://schemas.microsoft.com/office/drawing/2014/main" id="{707C4E61-B287-4FA5-9643-6E587DFAF2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83389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B1B3741-8F96-4AE2-9ED5-121A498B9671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396065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6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4" name="Szöveg helye 7">
            <a:extLst>
              <a:ext uri="{FF2B5EF4-FFF2-40B4-BE49-F238E27FC236}">
                <a16:creationId xmlns:a16="http://schemas.microsoft.com/office/drawing/2014/main" id="{A46C1999-D2FC-4558-B887-BEB66E1CAA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83389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1CD39DD-D4EC-4B68-BC49-D0D024D199A9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6065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10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6" name="Szöveg helye 7">
            <a:extLst>
              <a:ext uri="{FF2B5EF4-FFF2-40B4-BE49-F238E27FC236}">
                <a16:creationId xmlns:a16="http://schemas.microsoft.com/office/drawing/2014/main" id="{0EE0CD1F-231C-4383-BC17-A8F432183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83390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6B4B19B-F0BA-4E75-8B8C-140224B529D5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096001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3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8" name="Szöveg helye 7">
            <a:extLst>
              <a:ext uri="{FF2B5EF4-FFF2-40B4-BE49-F238E27FC236}">
                <a16:creationId xmlns:a16="http://schemas.microsoft.com/office/drawing/2014/main" id="{646D24A9-5DD2-4DDE-ADC9-A0E0B2D8BE3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3324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2F77EB8-CB6D-4EF7-861E-C1F98D1E1C6B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096000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7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0" name="Szöveg helye 7">
            <a:extLst>
              <a:ext uri="{FF2B5EF4-FFF2-40B4-BE49-F238E27FC236}">
                <a16:creationId xmlns:a16="http://schemas.microsoft.com/office/drawing/2014/main" id="{EB404DD9-BC3B-422A-B02F-6625DA22591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83324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7E685E4-5A56-4C2E-817B-0AAD007B2E0F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6096000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11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2" name="Szöveg helye 7">
            <a:extLst>
              <a:ext uri="{FF2B5EF4-FFF2-40B4-BE49-F238E27FC236}">
                <a16:creationId xmlns:a16="http://schemas.microsoft.com/office/drawing/2014/main" id="{77AE3990-8DAC-4804-B0F3-D8BDB5748B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3325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B0000A-06BC-45EF-B873-0069F4D9A2CE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8795936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4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4" name="Szöveg helye 7">
            <a:extLst>
              <a:ext uri="{FF2B5EF4-FFF2-40B4-BE49-F238E27FC236}">
                <a16:creationId xmlns:a16="http://schemas.microsoft.com/office/drawing/2014/main" id="{E4352486-8A79-4BEC-A45D-EDD495C200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83259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EBCF89C-E719-4BC5-9916-DB84486CE4D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795935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8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6" name="Szöveg helye 7">
            <a:extLst>
              <a:ext uri="{FF2B5EF4-FFF2-40B4-BE49-F238E27FC236}">
                <a16:creationId xmlns:a16="http://schemas.microsoft.com/office/drawing/2014/main" id="{24403933-DC68-449F-8EC7-02539B455D1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83259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04C3A2C-ECF3-42EE-BDF5-347F32DE9A1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8795935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12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8" name="Szöveg helye 7">
            <a:extLst>
              <a:ext uri="{FF2B5EF4-FFF2-40B4-BE49-F238E27FC236}">
                <a16:creationId xmlns:a16="http://schemas.microsoft.com/office/drawing/2014/main" id="{D27D24AF-E6E7-4A29-97C3-C15EAC87041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83260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524637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56A17600-A856-4B9E-AF11-ED721008296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68000" y="1528763"/>
            <a:ext cx="11181075" cy="480536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78180D-13CF-455A-B0B0-A2A0F8E02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872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88AF4310-F95F-4C93-9067-630145493233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72280" y="2360610"/>
            <a:ext cx="5400000" cy="39131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10" name="Szöveg helye 3">
            <a:extLst>
              <a:ext uri="{FF2B5EF4-FFF2-40B4-BE49-F238E27FC236}">
                <a16:creationId xmlns:a16="http://schemas.microsoft.com/office/drawing/2014/main" id="{B3403E48-323D-4282-894B-FC64C74A77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áblázat helye 4">
            <a:extLst>
              <a:ext uri="{FF2B5EF4-FFF2-40B4-BE49-F238E27FC236}">
                <a16:creationId xmlns:a16="http://schemas.microsoft.com/office/drawing/2014/main" id="{B8A404AB-10AE-4A56-A74E-B93999E7DDBA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421317" y="2360610"/>
            <a:ext cx="5400000" cy="39131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1B084A-7C46-4296-A126-7F4D00CA4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76086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6C082B5-4E2A-4FF1-A7C8-2320A6600909}"/>
              </a:ext>
            </a:extLst>
          </p:cNvPr>
          <p:cNvSpPr txBox="1">
            <a:spLocks/>
          </p:cNvSpPr>
          <p:nvPr userDrawn="1"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7219C-298C-485E-9732-5DCFA723F33A}" type="slidenum">
              <a:rPr lang="hu-HU" sz="1100" smtClean="0"/>
              <a:t>‹#›</a:t>
            </a:fld>
            <a:endParaRPr lang="hu-HU" sz="1100" dirty="0"/>
          </a:p>
        </p:txBody>
      </p:sp>
      <p:pic>
        <p:nvPicPr>
          <p:cNvPr id="4" name="Kép 8">
            <a:extLst>
              <a:ext uri="{FF2B5EF4-FFF2-40B4-BE49-F238E27FC236}">
                <a16:creationId xmlns:a16="http://schemas.microsoft.com/office/drawing/2014/main" id="{49BFBD28-7B68-4C0A-9440-E92D6B83D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35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791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your atten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abadkézi sokszög: alakzat 5">
            <a:extLst>
              <a:ext uri="{FF2B5EF4-FFF2-40B4-BE49-F238E27FC236}">
                <a16:creationId xmlns:a16="http://schemas.microsoft.com/office/drawing/2014/main" id="{3A402B69-5D47-4A7C-AC5D-40042DBAB163}"/>
              </a:ext>
            </a:extLst>
          </p:cNvPr>
          <p:cNvSpPr/>
          <p:nvPr/>
        </p:nvSpPr>
        <p:spPr>
          <a:xfrm>
            <a:off x="1138239" y="423987"/>
            <a:ext cx="4050001" cy="6137118"/>
          </a:xfrm>
          <a:custGeom>
            <a:avLst/>
            <a:gdLst>
              <a:gd name="connsiteX0" fmla="*/ 0 w 4050001"/>
              <a:gd name="connsiteY0" fmla="*/ 5665033 h 6137118"/>
              <a:gd name="connsiteX1" fmla="*/ 4050001 w 4050001"/>
              <a:gd name="connsiteY1" fmla="*/ 5665033 h 6137118"/>
              <a:gd name="connsiteX2" fmla="*/ 4050001 w 4050001"/>
              <a:gd name="connsiteY2" fmla="*/ 6137119 h 6137118"/>
              <a:gd name="connsiteX3" fmla="*/ 0 w 4050001"/>
              <a:gd name="connsiteY3" fmla="*/ 6137119 h 6137118"/>
              <a:gd name="connsiteX4" fmla="*/ 0 w 4050001"/>
              <a:gd name="connsiteY4" fmla="*/ 5665033 h 6137118"/>
              <a:gd name="connsiteX5" fmla="*/ 3950615 w 4050001"/>
              <a:gd name="connsiteY5" fmla="*/ 658436 h 6137118"/>
              <a:gd name="connsiteX6" fmla="*/ 3267332 w 4050001"/>
              <a:gd name="connsiteY6" fmla="*/ 0 h 6137118"/>
              <a:gd name="connsiteX7" fmla="*/ 2795246 w 4050001"/>
              <a:gd name="connsiteY7" fmla="*/ 198773 h 6137118"/>
              <a:gd name="connsiteX8" fmla="*/ 3143099 w 4050001"/>
              <a:gd name="connsiteY8" fmla="*/ 347853 h 6137118"/>
              <a:gd name="connsiteX9" fmla="*/ 3279756 w 4050001"/>
              <a:gd name="connsiteY9" fmla="*/ 323006 h 6137118"/>
              <a:gd name="connsiteX10" fmla="*/ 3640032 w 4050001"/>
              <a:gd name="connsiteY10" fmla="*/ 670859 h 6137118"/>
              <a:gd name="connsiteX11" fmla="*/ 3292179 w 4050001"/>
              <a:gd name="connsiteY11" fmla="*/ 1031135 h 6137118"/>
              <a:gd name="connsiteX12" fmla="*/ 2969173 w 4050001"/>
              <a:gd name="connsiteY12" fmla="*/ 832362 h 6137118"/>
              <a:gd name="connsiteX13" fmla="*/ 2633743 w 4050001"/>
              <a:gd name="connsiteY13" fmla="*/ 832362 h 6137118"/>
              <a:gd name="connsiteX14" fmla="*/ 3441259 w 4050001"/>
              <a:gd name="connsiteY14" fmla="*/ 1316872 h 6137118"/>
              <a:gd name="connsiteX15" fmla="*/ 3950615 w 4050001"/>
              <a:gd name="connsiteY15" fmla="*/ 658436 h 613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50001" h="6137118">
                <a:moveTo>
                  <a:pt x="0" y="5665033"/>
                </a:moveTo>
                <a:lnTo>
                  <a:pt x="4050001" y="5665033"/>
                </a:lnTo>
                <a:lnTo>
                  <a:pt x="4050001" y="6137119"/>
                </a:lnTo>
                <a:lnTo>
                  <a:pt x="0" y="6137119"/>
                </a:lnTo>
                <a:lnTo>
                  <a:pt x="0" y="5665033"/>
                </a:lnTo>
                <a:close/>
                <a:moveTo>
                  <a:pt x="3950615" y="658436"/>
                </a:moveTo>
                <a:cubicBezTo>
                  <a:pt x="3938192" y="285736"/>
                  <a:pt x="3640032" y="0"/>
                  <a:pt x="3267332" y="0"/>
                </a:cubicBezTo>
                <a:cubicBezTo>
                  <a:pt x="3093406" y="0"/>
                  <a:pt x="2919480" y="74540"/>
                  <a:pt x="2795246" y="198773"/>
                </a:cubicBezTo>
                <a:lnTo>
                  <a:pt x="3143099" y="347853"/>
                </a:lnTo>
                <a:cubicBezTo>
                  <a:pt x="3180369" y="335430"/>
                  <a:pt x="3230063" y="323006"/>
                  <a:pt x="3279756" y="323006"/>
                </a:cubicBezTo>
                <a:cubicBezTo>
                  <a:pt x="3478529" y="323006"/>
                  <a:pt x="3640032" y="472086"/>
                  <a:pt x="3640032" y="670859"/>
                </a:cubicBezTo>
                <a:cubicBezTo>
                  <a:pt x="3640032" y="869632"/>
                  <a:pt x="3478529" y="1031135"/>
                  <a:pt x="3292179" y="1031135"/>
                </a:cubicBezTo>
                <a:cubicBezTo>
                  <a:pt x="3155523" y="1031135"/>
                  <a:pt x="3031289" y="956596"/>
                  <a:pt x="2969173" y="832362"/>
                </a:cubicBezTo>
                <a:lnTo>
                  <a:pt x="2633743" y="832362"/>
                </a:lnTo>
                <a:cubicBezTo>
                  <a:pt x="2720707" y="1192639"/>
                  <a:pt x="3080983" y="1403835"/>
                  <a:pt x="3441259" y="1316872"/>
                </a:cubicBezTo>
                <a:cubicBezTo>
                  <a:pt x="3739419" y="1254755"/>
                  <a:pt x="3950615" y="981442"/>
                  <a:pt x="3950615" y="658436"/>
                </a:cubicBezTo>
              </a:path>
            </a:pathLst>
          </a:custGeom>
          <a:solidFill>
            <a:srgbClr val="BF8F55"/>
          </a:solidFill>
          <a:ln w="124097" cap="flat">
            <a:noFill/>
            <a:prstDash val="solid"/>
            <a:miter/>
          </a:ln>
        </p:spPr>
        <p:txBody>
          <a:bodyPr rtlCol="0" anchor="ctr"/>
          <a:lstStyle/>
          <a:p>
            <a:endParaRPr lang="hu-HU" dirty="0"/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AAA7C92-DBC7-435B-B3B9-79C53551FB2F}"/>
              </a:ext>
            </a:extLst>
          </p:cNvPr>
          <p:cNvGrpSpPr/>
          <p:nvPr/>
        </p:nvGrpSpPr>
        <p:grpSpPr>
          <a:xfrm>
            <a:off x="1166191" y="402072"/>
            <a:ext cx="4345055" cy="5227285"/>
            <a:chOff x="1166191" y="402072"/>
            <a:chExt cx="4345055" cy="5227285"/>
          </a:xfrm>
          <a:solidFill>
            <a:schemeClr val="tx1"/>
          </a:solidFill>
        </p:grpSpPr>
        <p:sp>
          <p:nvSpPr>
            <p:cNvPr id="5" name="Szabadkézi sokszög: alakzat 4">
              <a:extLst>
                <a:ext uri="{FF2B5EF4-FFF2-40B4-BE49-F238E27FC236}">
                  <a16:creationId xmlns:a16="http://schemas.microsoft.com/office/drawing/2014/main" id="{9970B417-BDDD-4E76-BCE7-0A39B96548E4}"/>
                </a:ext>
              </a:extLst>
            </p:cNvPr>
            <p:cNvSpPr/>
            <p:nvPr/>
          </p:nvSpPr>
          <p:spPr>
            <a:xfrm>
              <a:off x="2703577" y="4933652"/>
              <a:ext cx="919325" cy="695705"/>
            </a:xfrm>
            <a:custGeom>
              <a:avLst/>
              <a:gdLst>
                <a:gd name="connsiteX0" fmla="*/ 459663 w 919325"/>
                <a:gd name="connsiteY0" fmla="*/ 695706 h 695705"/>
                <a:gd name="connsiteX1" fmla="*/ 919325 w 919325"/>
                <a:gd name="connsiteY1" fmla="*/ 236043 h 695705"/>
                <a:gd name="connsiteX2" fmla="*/ 683282 w 919325"/>
                <a:gd name="connsiteY2" fmla="*/ 0 h 695705"/>
                <a:gd name="connsiteX3" fmla="*/ 0 w 919325"/>
                <a:gd name="connsiteY3" fmla="*/ 695706 h 69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9325" h="695705">
                  <a:moveTo>
                    <a:pt x="459663" y="695706"/>
                  </a:moveTo>
                  <a:lnTo>
                    <a:pt x="919325" y="236043"/>
                  </a:lnTo>
                  <a:lnTo>
                    <a:pt x="683282" y="0"/>
                  </a:lnTo>
                  <a:lnTo>
                    <a:pt x="0" y="695706"/>
                  </a:lnTo>
                  <a:close/>
                </a:path>
              </a:pathLst>
            </a:custGeom>
            <a:solidFill>
              <a:schemeClr val="accent1"/>
            </a:solidFill>
            <a:ln w="12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u-HU" dirty="0">
                <a:solidFill>
                  <a:schemeClr val="accent1"/>
                </a:solidFill>
              </a:endParaRPr>
            </a:p>
          </p:txBody>
        </p:sp>
        <p:sp>
          <p:nvSpPr>
            <p:cNvPr id="8" name="Szabadkézi sokszög: alakzat 7">
              <a:extLst>
                <a:ext uri="{FF2B5EF4-FFF2-40B4-BE49-F238E27FC236}">
                  <a16:creationId xmlns:a16="http://schemas.microsoft.com/office/drawing/2014/main" id="{7ECD1A9A-D4EB-4E19-86C3-0E3ABD55DC6B}"/>
                </a:ext>
              </a:extLst>
            </p:cNvPr>
            <p:cNvSpPr/>
            <p:nvPr/>
          </p:nvSpPr>
          <p:spPr>
            <a:xfrm>
              <a:off x="1166191" y="402072"/>
              <a:ext cx="4345055" cy="5214862"/>
            </a:xfrm>
            <a:custGeom>
              <a:avLst/>
              <a:gdLst>
                <a:gd name="connsiteX0" fmla="*/ 2158552 w 4345055"/>
                <a:gd name="connsiteY0" fmla="*/ 854278 h 5214862"/>
                <a:gd name="connsiteX1" fmla="*/ 3251803 w 4345055"/>
                <a:gd name="connsiteY1" fmla="*/ 854278 h 5214862"/>
                <a:gd name="connsiteX2" fmla="*/ 2990914 w 4345055"/>
                <a:gd name="connsiteY2" fmla="*/ 494001 h 5214862"/>
                <a:gd name="connsiteX3" fmla="*/ 1798275 w 4345055"/>
                <a:gd name="connsiteY3" fmla="*/ 21915 h 5214862"/>
                <a:gd name="connsiteX4" fmla="*/ 1363459 w 4345055"/>
                <a:gd name="connsiteY4" fmla="*/ 108879 h 5214862"/>
                <a:gd name="connsiteX5" fmla="*/ 456557 w 4345055"/>
                <a:gd name="connsiteY5" fmla="*/ 1003358 h 5214862"/>
                <a:gd name="connsiteX6" fmla="*/ 456557 w 4345055"/>
                <a:gd name="connsiteY6" fmla="*/ 3202285 h 5214862"/>
                <a:gd name="connsiteX7" fmla="*/ 456557 w 4345055"/>
                <a:gd name="connsiteY7" fmla="*/ 3202285 h 5214862"/>
                <a:gd name="connsiteX8" fmla="*/ 1611925 w 4345055"/>
                <a:gd name="connsiteY8" fmla="*/ 4357653 h 5214862"/>
                <a:gd name="connsiteX9" fmla="*/ 754717 w 4345055"/>
                <a:gd name="connsiteY9" fmla="*/ 5214862 h 5214862"/>
                <a:gd name="connsiteX10" fmla="*/ 1214379 w 4345055"/>
                <a:gd name="connsiteY10" fmla="*/ 5214862 h 5214862"/>
                <a:gd name="connsiteX11" fmla="*/ 2059165 w 4345055"/>
                <a:gd name="connsiteY11" fmla="*/ 4370077 h 5214862"/>
                <a:gd name="connsiteX12" fmla="*/ 1748582 w 4345055"/>
                <a:gd name="connsiteY12" fmla="*/ 4059494 h 5214862"/>
                <a:gd name="connsiteX13" fmla="*/ 1910085 w 4345055"/>
                <a:gd name="connsiteY13" fmla="*/ 3897991 h 5214862"/>
                <a:gd name="connsiteX14" fmla="*/ 2792141 w 4345055"/>
                <a:gd name="connsiteY14" fmla="*/ 4780046 h 5214862"/>
                <a:gd name="connsiteX15" fmla="*/ 3102724 w 4345055"/>
                <a:gd name="connsiteY15" fmla="*/ 4904280 h 5214862"/>
                <a:gd name="connsiteX16" fmla="*/ 4345056 w 4345055"/>
                <a:gd name="connsiteY16" fmla="*/ 4904280 h 5214862"/>
                <a:gd name="connsiteX17" fmla="*/ 3102724 w 4345055"/>
                <a:gd name="connsiteY17" fmla="*/ 3661948 h 5214862"/>
                <a:gd name="connsiteX18" fmla="*/ 3102724 w 4345055"/>
                <a:gd name="connsiteY18" fmla="*/ 2904125 h 5214862"/>
                <a:gd name="connsiteX19" fmla="*/ 2978491 w 4345055"/>
                <a:gd name="connsiteY19" fmla="*/ 2605966 h 5214862"/>
                <a:gd name="connsiteX20" fmla="*/ 1810699 w 4345055"/>
                <a:gd name="connsiteY20" fmla="*/ 1438174 h 5214862"/>
                <a:gd name="connsiteX21" fmla="*/ 1810699 w 4345055"/>
                <a:gd name="connsiteY21" fmla="*/ 1214554 h 5214862"/>
                <a:gd name="connsiteX22" fmla="*/ 2158552 w 4345055"/>
                <a:gd name="connsiteY22" fmla="*/ 854278 h 5214862"/>
                <a:gd name="connsiteX23" fmla="*/ 2158552 w 4345055"/>
                <a:gd name="connsiteY23" fmla="*/ 854278 h 5214862"/>
                <a:gd name="connsiteX24" fmla="*/ 1847969 w 4345055"/>
                <a:gd name="connsiteY24" fmla="*/ 2096609 h 5214862"/>
                <a:gd name="connsiteX25" fmla="*/ 2779717 w 4345055"/>
                <a:gd name="connsiteY25" fmla="*/ 3028358 h 5214862"/>
                <a:gd name="connsiteX26" fmla="*/ 2779717 w 4345055"/>
                <a:gd name="connsiteY26" fmla="*/ 3351365 h 5214862"/>
                <a:gd name="connsiteX27" fmla="*/ 1934932 w 4345055"/>
                <a:gd name="connsiteY27" fmla="*/ 2506579 h 5214862"/>
                <a:gd name="connsiteX28" fmla="*/ 1835545 w 4345055"/>
                <a:gd name="connsiteY28" fmla="*/ 2282959 h 5214862"/>
                <a:gd name="connsiteX29" fmla="*/ 1835545 w 4345055"/>
                <a:gd name="connsiteY29" fmla="*/ 2096609 h 52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45055" h="5214862">
                  <a:moveTo>
                    <a:pt x="2158552" y="854278"/>
                  </a:moveTo>
                  <a:lnTo>
                    <a:pt x="3251803" y="854278"/>
                  </a:lnTo>
                  <a:cubicBezTo>
                    <a:pt x="3226957" y="692775"/>
                    <a:pt x="3127570" y="556118"/>
                    <a:pt x="2990914" y="494001"/>
                  </a:cubicBezTo>
                  <a:lnTo>
                    <a:pt x="1798275" y="21915"/>
                  </a:lnTo>
                  <a:cubicBezTo>
                    <a:pt x="1649195" y="-27778"/>
                    <a:pt x="1475269" y="9492"/>
                    <a:pt x="1363459" y="108879"/>
                  </a:cubicBezTo>
                  <a:lnTo>
                    <a:pt x="456557" y="1003358"/>
                  </a:lnTo>
                  <a:cubicBezTo>
                    <a:pt x="-152186" y="1612100"/>
                    <a:pt x="-152186" y="2593542"/>
                    <a:pt x="456557" y="3202285"/>
                  </a:cubicBezTo>
                  <a:cubicBezTo>
                    <a:pt x="456557" y="3202285"/>
                    <a:pt x="456557" y="3202285"/>
                    <a:pt x="456557" y="3202285"/>
                  </a:cubicBezTo>
                  <a:lnTo>
                    <a:pt x="1611925" y="4357653"/>
                  </a:lnTo>
                  <a:lnTo>
                    <a:pt x="754717" y="5214862"/>
                  </a:lnTo>
                  <a:lnTo>
                    <a:pt x="1214379" y="5214862"/>
                  </a:lnTo>
                  <a:lnTo>
                    <a:pt x="2059165" y="4370077"/>
                  </a:lnTo>
                  <a:lnTo>
                    <a:pt x="1748582" y="4059494"/>
                  </a:lnTo>
                  <a:lnTo>
                    <a:pt x="1910085" y="3897991"/>
                  </a:lnTo>
                  <a:lnTo>
                    <a:pt x="2792141" y="4780046"/>
                  </a:lnTo>
                  <a:cubicBezTo>
                    <a:pt x="2879104" y="4854586"/>
                    <a:pt x="2978491" y="4904280"/>
                    <a:pt x="3102724" y="4904280"/>
                  </a:cubicBezTo>
                  <a:lnTo>
                    <a:pt x="4345056" y="4904280"/>
                  </a:lnTo>
                  <a:lnTo>
                    <a:pt x="3102724" y="3661948"/>
                  </a:lnTo>
                  <a:lnTo>
                    <a:pt x="3102724" y="2904125"/>
                  </a:lnTo>
                  <a:cubicBezTo>
                    <a:pt x="3102724" y="2792315"/>
                    <a:pt x="3053030" y="2680506"/>
                    <a:pt x="2978491" y="2605966"/>
                  </a:cubicBezTo>
                  <a:lnTo>
                    <a:pt x="1810699" y="1438174"/>
                  </a:lnTo>
                  <a:cubicBezTo>
                    <a:pt x="1748582" y="1376057"/>
                    <a:pt x="1748582" y="1276671"/>
                    <a:pt x="1810699" y="1214554"/>
                  </a:cubicBezTo>
                  <a:lnTo>
                    <a:pt x="2158552" y="854278"/>
                  </a:lnTo>
                  <a:lnTo>
                    <a:pt x="2158552" y="854278"/>
                  </a:lnTo>
                  <a:close/>
                  <a:moveTo>
                    <a:pt x="1847969" y="2096609"/>
                  </a:moveTo>
                  <a:lnTo>
                    <a:pt x="2779717" y="3028358"/>
                  </a:lnTo>
                  <a:lnTo>
                    <a:pt x="2779717" y="3351365"/>
                  </a:lnTo>
                  <a:lnTo>
                    <a:pt x="1934932" y="2506579"/>
                  </a:lnTo>
                  <a:cubicBezTo>
                    <a:pt x="1872815" y="2444463"/>
                    <a:pt x="1847969" y="2357499"/>
                    <a:pt x="1835545" y="2282959"/>
                  </a:cubicBezTo>
                  <a:lnTo>
                    <a:pt x="1835545" y="2096609"/>
                  </a:lnTo>
                  <a:close/>
                </a:path>
              </a:pathLst>
            </a:custGeom>
            <a:solidFill>
              <a:schemeClr val="accent1"/>
            </a:solidFill>
            <a:ln w="12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u-HU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E1A7147B-719B-4B06-ABCB-908B8A704C37}"/>
              </a:ext>
            </a:extLst>
          </p:cNvPr>
          <p:cNvSpPr txBox="1">
            <a:spLocks/>
          </p:cNvSpPr>
          <p:nvPr/>
        </p:nvSpPr>
        <p:spPr>
          <a:xfrm>
            <a:off x="6365876" y="2141692"/>
            <a:ext cx="5391928" cy="16711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1" kern="6600" baseline="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chemeClr val="tx1"/>
                </a:solidFill>
              </a:rPr>
              <a:t>Thank you for your attention!</a:t>
            </a:r>
            <a:endParaRPr lang="hu-HU" sz="4400" dirty="0">
              <a:solidFill>
                <a:schemeClr val="tx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FD0DF1-4EF7-40CF-BC06-82D22A3057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365876" y="5910442"/>
            <a:ext cx="5257799" cy="41823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 dirty="0">
                <a:latin typeface="Muli" pitchFamily="2" charset="77"/>
              </a:rPr>
              <a:t>…@uni-corvinus.hu</a:t>
            </a:r>
          </a:p>
        </p:txBody>
      </p:sp>
    </p:spTree>
    <p:extLst>
      <p:ext uri="{BB962C8B-B14F-4D97-AF65-F5344CB8AC3E}">
        <p14:creationId xmlns:p14="http://schemas.microsoft.com/office/powerpoint/2010/main" val="3724152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vinus 9 color sc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29">
            <a:extLst>
              <a:ext uri="{FF2B5EF4-FFF2-40B4-BE49-F238E27FC236}">
                <a16:creationId xmlns:a16="http://schemas.microsoft.com/office/drawing/2014/main" id="{B3A51A6E-BA40-41E4-9035-49E0B32CB6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31813" y="3229494"/>
            <a:ext cx="4781551" cy="284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Arial "/>
              </a:defRPr>
            </a:lvl1pPr>
          </a:lstStyle>
          <a:p>
            <a:pPr marL="0" indent="0"/>
            <a:r>
              <a:rPr lang="hu-HU" dirty="0"/>
              <a:t>A sablonban létrehoztunk egy </a:t>
            </a:r>
            <a:r>
              <a:rPr lang="hu-HU" b="1" dirty="0"/>
              <a:t>Corvinus színsémát</a:t>
            </a:r>
            <a:r>
              <a:rPr lang="hu-HU" dirty="0"/>
              <a:t> ezekből a színekből +a fehér szín.</a:t>
            </a:r>
          </a:p>
          <a:p>
            <a:r>
              <a:rPr lang="hu-HU" dirty="0"/>
              <a:t>A Corvinus arculati rendszeréhez használt színek listája </a:t>
            </a:r>
            <a:r>
              <a:rPr lang="hu-HU" dirty="0" err="1"/>
              <a:t>hexa</a:t>
            </a:r>
            <a:r>
              <a:rPr lang="hu-HU" dirty="0"/>
              <a:t> kódokkal.</a:t>
            </a:r>
          </a:p>
          <a:p>
            <a:r>
              <a:rPr lang="hu-HU" dirty="0"/>
              <a:t>A sablonban létrehoztunk egy </a:t>
            </a:r>
            <a:r>
              <a:rPr lang="hu-HU" b="1" dirty="0"/>
              <a:t>Corvinus-</a:t>
            </a:r>
            <a:r>
              <a:rPr lang="hu-HU" b="1" dirty="0" err="1"/>
              <a:t>new</a:t>
            </a:r>
            <a:r>
              <a:rPr lang="hu-HU" b="1" dirty="0"/>
              <a:t> színsémát </a:t>
            </a:r>
            <a:r>
              <a:rPr lang="hu-HU" dirty="0"/>
              <a:t>ezekből a színekből. </a:t>
            </a:r>
            <a:endParaRPr lang="en-US" dirty="0"/>
          </a:p>
          <a:p>
            <a:pPr marL="0" indent="0"/>
            <a:endParaRPr lang="hu-H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9B4926A-3EFF-4F82-820B-8307E7A163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Corvinus színséma alapszínek</a:t>
            </a: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001FEF86-E7E6-48D2-8CB7-71C34DC5D387}"/>
              </a:ext>
            </a:extLst>
          </p:cNvPr>
          <p:cNvSpPr txBox="1">
            <a:spLocks/>
          </p:cNvSpPr>
          <p:nvPr userDrawn="1"/>
        </p:nvSpPr>
        <p:spPr>
          <a:xfrm>
            <a:off x="10123469" y="3429000"/>
            <a:ext cx="1344612" cy="113792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#F5C832</a:t>
            </a:r>
            <a:br>
              <a:rPr lang="pt-BR" dirty="0"/>
            </a:br>
            <a:r>
              <a:rPr lang="pt-BR" dirty="0"/>
              <a:t>R: 245</a:t>
            </a:r>
            <a:br>
              <a:rPr lang="pt-BR" dirty="0"/>
            </a:br>
            <a:r>
              <a:rPr lang="pt-BR" dirty="0"/>
              <a:t>G: 200</a:t>
            </a:r>
            <a:br>
              <a:rPr lang="pt-BR" dirty="0"/>
            </a:br>
            <a:r>
              <a:rPr lang="pt-BR" dirty="0"/>
              <a:t>B: 50</a:t>
            </a:r>
          </a:p>
        </p:txBody>
      </p:sp>
      <p:sp>
        <p:nvSpPr>
          <p:cNvPr id="6" name="Szöveg helye 2">
            <a:extLst>
              <a:ext uri="{FF2B5EF4-FFF2-40B4-BE49-F238E27FC236}">
                <a16:creationId xmlns:a16="http://schemas.microsoft.com/office/drawing/2014/main" id="{121DB994-CDA6-47A8-BB92-177373C631E5}"/>
              </a:ext>
            </a:extLst>
          </p:cNvPr>
          <p:cNvSpPr txBox="1">
            <a:spLocks/>
          </p:cNvSpPr>
          <p:nvPr userDrawn="1"/>
        </p:nvSpPr>
        <p:spPr>
          <a:xfrm>
            <a:off x="6096000" y="3429000"/>
            <a:ext cx="1344612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#1B213E</a:t>
            </a:r>
            <a:br>
              <a:rPr lang="pt-BR" dirty="0"/>
            </a:br>
            <a:r>
              <a:rPr lang="pt-BR" dirty="0"/>
              <a:t>R: 27</a:t>
            </a:r>
            <a:br>
              <a:rPr lang="pt-BR" dirty="0"/>
            </a:br>
            <a:r>
              <a:rPr lang="pt-BR" dirty="0"/>
              <a:t>G: 33</a:t>
            </a:r>
            <a:br>
              <a:rPr lang="pt-BR" dirty="0"/>
            </a:br>
            <a:r>
              <a:rPr lang="pt-BR" dirty="0"/>
              <a:t>B: 62</a:t>
            </a:r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CB49D1DA-6A33-4785-8908-5BE4C65AF478}"/>
              </a:ext>
            </a:extLst>
          </p:cNvPr>
          <p:cNvSpPr txBox="1">
            <a:spLocks/>
          </p:cNvSpPr>
          <p:nvPr userDrawn="1"/>
        </p:nvSpPr>
        <p:spPr>
          <a:xfrm>
            <a:off x="7438128" y="3429000"/>
            <a:ext cx="1344612" cy="113792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#BF8F55</a:t>
            </a:r>
            <a:br>
              <a:rPr lang="pt-BR" dirty="0"/>
            </a:br>
            <a:r>
              <a:rPr lang="pt-BR" dirty="0"/>
              <a:t>R: 191</a:t>
            </a:r>
            <a:br>
              <a:rPr lang="pt-BR" dirty="0"/>
            </a:br>
            <a:r>
              <a:rPr lang="pt-BR" dirty="0"/>
              <a:t>G: 143</a:t>
            </a:r>
            <a:br>
              <a:rPr lang="pt-BR" dirty="0"/>
            </a:br>
            <a:r>
              <a:rPr lang="pt-BR" dirty="0"/>
              <a:t>B: 85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750490FB-A280-44F5-8E94-66E94C72FB58}"/>
              </a:ext>
            </a:extLst>
          </p:cNvPr>
          <p:cNvSpPr txBox="1">
            <a:spLocks/>
          </p:cNvSpPr>
          <p:nvPr userDrawn="1"/>
        </p:nvSpPr>
        <p:spPr>
          <a:xfrm>
            <a:off x="8778549" y="3429000"/>
            <a:ext cx="1344612" cy="113792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#5C6873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92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104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115</a:t>
            </a:r>
            <a:endParaRPr lang="pt-BR" dirty="0"/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E6D8E888-94DE-496B-9B5F-E2E30DF138AA}"/>
              </a:ext>
            </a:extLst>
          </p:cNvPr>
          <p:cNvSpPr txBox="1">
            <a:spLocks/>
          </p:cNvSpPr>
          <p:nvPr userDrawn="1"/>
        </p:nvSpPr>
        <p:spPr>
          <a:xfrm>
            <a:off x="7440612" y="4565447"/>
            <a:ext cx="1344612" cy="113792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#0C8843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12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136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67</a:t>
            </a:r>
            <a:endParaRPr lang="pt-BR" dirty="0"/>
          </a:p>
        </p:txBody>
      </p:sp>
      <p:sp>
        <p:nvSpPr>
          <p:cNvPr id="11" name="Szöveg helye 2">
            <a:extLst>
              <a:ext uri="{FF2B5EF4-FFF2-40B4-BE49-F238E27FC236}">
                <a16:creationId xmlns:a16="http://schemas.microsoft.com/office/drawing/2014/main" id="{B19B29B5-4CA2-4270-9BCA-DEED4F63B835}"/>
              </a:ext>
            </a:extLst>
          </p:cNvPr>
          <p:cNvSpPr txBox="1">
            <a:spLocks/>
          </p:cNvSpPr>
          <p:nvPr userDrawn="1"/>
        </p:nvSpPr>
        <p:spPr>
          <a:xfrm>
            <a:off x="6096000" y="4566920"/>
            <a:ext cx="1344612" cy="113792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#D22027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210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4762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vinus base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29">
            <a:extLst>
              <a:ext uri="{FF2B5EF4-FFF2-40B4-BE49-F238E27FC236}">
                <a16:creationId xmlns:a16="http://schemas.microsoft.com/office/drawing/2014/main" id="{B3A51A6E-BA40-41E4-9035-49E0B32CB6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6920" y="3277891"/>
            <a:ext cx="4781551" cy="284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Arial "/>
              </a:defRPr>
            </a:lvl1pPr>
          </a:lstStyle>
          <a:p>
            <a:r>
              <a:rPr lang="hu-HU" dirty="0"/>
              <a:t>A Corvinus arculati rendszerében használható  színek listája </a:t>
            </a:r>
            <a:r>
              <a:rPr lang="hu-HU" dirty="0" err="1"/>
              <a:t>hexa</a:t>
            </a:r>
            <a:r>
              <a:rPr lang="hu-HU" dirty="0"/>
              <a:t> kódokkal.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sz="1800" dirty="0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 sablonban létrehozott Corvinus színsémán kívül ezekből a színekből lehet egyedit kiválasztani. A színpalettából kimaradt színeket pirossal megjelöltük, a megadott </a:t>
            </a:r>
            <a:r>
              <a:rPr lang="hu-HU" sz="1800" dirty="0" err="1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hexa</a:t>
            </a:r>
            <a:r>
              <a:rPr lang="hu-HU" sz="1800" dirty="0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kódokkal lehet egyedileg létrehozni a kívánt objektumnál. </a:t>
            </a:r>
          </a:p>
          <a:p>
            <a:pPr marL="0" indent="0"/>
            <a:endParaRPr lang="hu-H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9B4926A-3EFF-4F82-820B-8307E7A163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Corvinus színséma további elemei</a:t>
            </a:r>
          </a:p>
        </p:txBody>
      </p:sp>
      <p:sp>
        <p:nvSpPr>
          <p:cNvPr id="6" name="Szöveg helye 2">
            <a:extLst>
              <a:ext uri="{FF2B5EF4-FFF2-40B4-BE49-F238E27FC236}">
                <a16:creationId xmlns:a16="http://schemas.microsoft.com/office/drawing/2014/main" id="{7136B0C2-B72A-4140-8543-7C8693A07CDC}"/>
              </a:ext>
            </a:extLst>
          </p:cNvPr>
          <p:cNvSpPr txBox="1">
            <a:spLocks/>
          </p:cNvSpPr>
          <p:nvPr userDrawn="1"/>
        </p:nvSpPr>
        <p:spPr>
          <a:xfrm>
            <a:off x="10230545" y="1014768"/>
            <a:ext cx="1344612" cy="1137920"/>
          </a:xfrm>
          <a:prstGeom prst="rect">
            <a:avLst/>
          </a:prstGeom>
          <a:solidFill>
            <a:srgbClr val="F5C8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#F5C832</a:t>
            </a:r>
            <a:br>
              <a:rPr lang="pt-BR" dirty="0"/>
            </a:br>
            <a:r>
              <a:rPr lang="pt-BR" dirty="0"/>
              <a:t>R: 245</a:t>
            </a:r>
            <a:br>
              <a:rPr lang="pt-BR" dirty="0"/>
            </a:br>
            <a:r>
              <a:rPr lang="pt-BR" dirty="0"/>
              <a:t>G: 200</a:t>
            </a:r>
            <a:br>
              <a:rPr lang="pt-BR" dirty="0"/>
            </a:br>
            <a:r>
              <a:rPr lang="pt-BR" dirty="0"/>
              <a:t>B: 50</a:t>
            </a:r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C3C05A8B-591D-4BF8-8530-EF736E66B806}"/>
              </a:ext>
            </a:extLst>
          </p:cNvPr>
          <p:cNvSpPr txBox="1">
            <a:spLocks/>
          </p:cNvSpPr>
          <p:nvPr userDrawn="1"/>
        </p:nvSpPr>
        <p:spPr>
          <a:xfrm>
            <a:off x="7535605" y="2151498"/>
            <a:ext cx="1344612" cy="1137920"/>
          </a:xfrm>
          <a:prstGeom prst="rect">
            <a:avLst/>
          </a:prstGeom>
          <a:solidFill>
            <a:srgbClr val="855C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#855C24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133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92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36</a:t>
            </a:r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8C72A7B1-AD72-4763-BE51-E16E88BDABC1}"/>
              </a:ext>
            </a:extLst>
          </p:cNvPr>
          <p:cNvSpPr txBox="1">
            <a:spLocks/>
          </p:cNvSpPr>
          <p:nvPr userDrawn="1"/>
        </p:nvSpPr>
        <p:spPr>
          <a:xfrm>
            <a:off x="8880217" y="2151498"/>
            <a:ext cx="1344612" cy="1137920"/>
          </a:xfrm>
          <a:prstGeom prst="rect">
            <a:avLst/>
          </a:prstGeom>
          <a:solidFill>
            <a:srgbClr val="3D45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#3D454C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61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69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76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9EDCF2CA-8D57-4A0B-BEFE-6228225DFCDC}"/>
              </a:ext>
            </a:extLst>
          </p:cNvPr>
          <p:cNvSpPr txBox="1">
            <a:spLocks/>
          </p:cNvSpPr>
          <p:nvPr userDrawn="1"/>
        </p:nvSpPr>
        <p:spPr>
          <a:xfrm>
            <a:off x="10234477" y="3290609"/>
            <a:ext cx="1344612" cy="1137920"/>
          </a:xfrm>
          <a:prstGeom prst="rect">
            <a:avLst/>
          </a:prstGeom>
          <a:solidFill>
            <a:srgbClr val="F9D9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#F9D97C</a:t>
            </a:r>
            <a:br>
              <a:rPr lang="pt-BR" dirty="0"/>
            </a:br>
            <a:r>
              <a:rPr lang="pt-BR" dirty="0"/>
              <a:t>R: 249</a:t>
            </a:r>
            <a:br>
              <a:rPr lang="pt-BR" dirty="0"/>
            </a:br>
            <a:r>
              <a:rPr lang="pt-BR" dirty="0"/>
              <a:t>G: 217</a:t>
            </a:r>
            <a:br>
              <a:rPr lang="pt-BR" dirty="0"/>
            </a:br>
            <a:r>
              <a:rPr lang="pt-BR" dirty="0"/>
              <a:t>B: 124</a:t>
            </a:r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3FD0A3CF-1E5E-4A9F-AC01-BBD227A1920C}"/>
              </a:ext>
            </a:extLst>
          </p:cNvPr>
          <p:cNvSpPr txBox="1">
            <a:spLocks/>
          </p:cNvSpPr>
          <p:nvPr userDrawn="1"/>
        </p:nvSpPr>
        <p:spPr>
          <a:xfrm>
            <a:off x="10230545" y="4424675"/>
            <a:ext cx="1344612" cy="1137920"/>
          </a:xfrm>
          <a:prstGeom prst="rect">
            <a:avLst/>
          </a:prstGeom>
          <a:solidFill>
            <a:srgbClr val="FBE3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#FBE3A5</a:t>
            </a:r>
            <a:br>
              <a:rPr lang="pt-BR" dirty="0"/>
            </a:br>
            <a:r>
              <a:rPr lang="pt-BR" dirty="0"/>
              <a:t>R: 251</a:t>
            </a:r>
            <a:br>
              <a:rPr lang="pt-BR" dirty="0"/>
            </a:br>
            <a:r>
              <a:rPr lang="pt-BR" dirty="0"/>
              <a:t>G: 227</a:t>
            </a:r>
            <a:br>
              <a:rPr lang="pt-BR" dirty="0"/>
            </a:br>
            <a:r>
              <a:rPr lang="pt-BR" dirty="0"/>
              <a:t>B: 165</a:t>
            </a:r>
          </a:p>
        </p:txBody>
      </p:sp>
      <p:sp>
        <p:nvSpPr>
          <p:cNvPr id="11" name="Szöveg helye 2">
            <a:extLst>
              <a:ext uri="{FF2B5EF4-FFF2-40B4-BE49-F238E27FC236}">
                <a16:creationId xmlns:a16="http://schemas.microsoft.com/office/drawing/2014/main" id="{52040448-97D2-4FC2-8799-DB979D5982A3}"/>
              </a:ext>
            </a:extLst>
          </p:cNvPr>
          <p:cNvSpPr txBox="1">
            <a:spLocks/>
          </p:cNvSpPr>
          <p:nvPr userDrawn="1"/>
        </p:nvSpPr>
        <p:spPr>
          <a:xfrm>
            <a:off x="6197668" y="3290609"/>
            <a:ext cx="1344612" cy="1137920"/>
          </a:xfrm>
          <a:prstGeom prst="rect">
            <a:avLst/>
          </a:prstGeom>
          <a:solidFill>
            <a:srgbClr val="1012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#101226</a:t>
            </a:r>
            <a:br>
              <a:rPr lang="pt-BR" dirty="0"/>
            </a:br>
            <a:r>
              <a:rPr lang="pt-BR" dirty="0"/>
              <a:t>R: 16</a:t>
            </a:r>
            <a:br>
              <a:rPr lang="pt-BR" dirty="0"/>
            </a:br>
            <a:r>
              <a:rPr lang="pt-BR" dirty="0"/>
              <a:t>G: 18</a:t>
            </a:r>
            <a:br>
              <a:rPr lang="pt-BR" dirty="0"/>
            </a:br>
            <a:r>
              <a:rPr lang="pt-BR" dirty="0"/>
              <a:t>B: 38</a:t>
            </a:r>
          </a:p>
        </p:txBody>
      </p:sp>
      <p:sp>
        <p:nvSpPr>
          <p:cNvPr id="12" name="Szöveg helye 2">
            <a:extLst>
              <a:ext uri="{FF2B5EF4-FFF2-40B4-BE49-F238E27FC236}">
                <a16:creationId xmlns:a16="http://schemas.microsoft.com/office/drawing/2014/main" id="{746BD614-3326-4BF2-ABE8-3A9777CA89E8}"/>
              </a:ext>
            </a:extLst>
          </p:cNvPr>
          <p:cNvSpPr txBox="1">
            <a:spLocks/>
          </p:cNvSpPr>
          <p:nvPr userDrawn="1"/>
        </p:nvSpPr>
        <p:spPr>
          <a:xfrm>
            <a:off x="6195818" y="2152687"/>
            <a:ext cx="1344612" cy="1137920"/>
          </a:xfrm>
          <a:prstGeom prst="rect">
            <a:avLst/>
          </a:prstGeom>
          <a:solidFill>
            <a:srgbClr val="100C0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#100C08</a:t>
            </a:r>
            <a:br>
              <a:rPr lang="pt-BR" dirty="0"/>
            </a:br>
            <a:r>
              <a:rPr lang="pt-BR" dirty="0"/>
              <a:t>R: 16</a:t>
            </a:r>
            <a:br>
              <a:rPr lang="pt-BR" dirty="0"/>
            </a:br>
            <a:r>
              <a:rPr lang="pt-BR" dirty="0"/>
              <a:t>G: 12</a:t>
            </a:r>
            <a:br>
              <a:rPr lang="pt-BR" dirty="0"/>
            </a:br>
            <a:r>
              <a:rPr lang="pt-BR" dirty="0"/>
              <a:t>B: 8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C20FAFEC-F123-47B7-8E69-95BD0796AC44}"/>
              </a:ext>
            </a:extLst>
          </p:cNvPr>
          <p:cNvSpPr txBox="1">
            <a:spLocks/>
          </p:cNvSpPr>
          <p:nvPr userDrawn="1"/>
        </p:nvSpPr>
        <p:spPr>
          <a:xfrm>
            <a:off x="10224828" y="2152688"/>
            <a:ext cx="1344612" cy="1137920"/>
          </a:xfrm>
          <a:prstGeom prst="rect">
            <a:avLst/>
          </a:prstGeom>
          <a:solidFill>
            <a:srgbClr val="E0AA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#E0AA26</a:t>
            </a:r>
            <a:br>
              <a:rPr lang="pt-BR" dirty="0"/>
            </a:br>
            <a:r>
              <a:rPr lang="pt-BR" dirty="0"/>
              <a:t>R: 224</a:t>
            </a:r>
            <a:br>
              <a:rPr lang="pt-BR" dirty="0"/>
            </a:br>
            <a:r>
              <a:rPr lang="pt-BR" dirty="0"/>
              <a:t>G: 170</a:t>
            </a:r>
            <a:br>
              <a:rPr lang="pt-BR" dirty="0"/>
            </a:br>
            <a:r>
              <a:rPr lang="pt-BR" dirty="0"/>
              <a:t>B: 38</a:t>
            </a:r>
          </a:p>
        </p:txBody>
      </p: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EF3FFC4E-735C-44DE-A123-10C7CFAD1153}"/>
              </a:ext>
            </a:extLst>
          </p:cNvPr>
          <p:cNvSpPr txBox="1">
            <a:spLocks/>
          </p:cNvSpPr>
          <p:nvPr userDrawn="1"/>
        </p:nvSpPr>
        <p:spPr>
          <a:xfrm>
            <a:off x="6197668" y="1014768"/>
            <a:ext cx="1344612" cy="1137920"/>
          </a:xfrm>
          <a:prstGeom prst="rect">
            <a:avLst/>
          </a:prstGeom>
          <a:solidFill>
            <a:srgbClr val="1B21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#1B213E</a:t>
            </a:r>
            <a:br>
              <a:rPr lang="pt-BR" dirty="0"/>
            </a:br>
            <a:r>
              <a:rPr lang="pt-BR" dirty="0"/>
              <a:t>R: 27</a:t>
            </a:r>
            <a:br>
              <a:rPr lang="pt-BR" dirty="0"/>
            </a:br>
            <a:r>
              <a:rPr lang="pt-BR" dirty="0"/>
              <a:t>G: 33</a:t>
            </a:r>
            <a:br>
              <a:rPr lang="pt-BR" dirty="0"/>
            </a:br>
            <a:r>
              <a:rPr lang="pt-BR" dirty="0"/>
              <a:t>B: 62</a:t>
            </a:r>
          </a:p>
        </p:txBody>
      </p:sp>
      <p:sp>
        <p:nvSpPr>
          <p:cNvPr id="15" name="Szöveg helye 2">
            <a:extLst>
              <a:ext uri="{FF2B5EF4-FFF2-40B4-BE49-F238E27FC236}">
                <a16:creationId xmlns:a16="http://schemas.microsoft.com/office/drawing/2014/main" id="{49F8A52D-0610-4906-9283-402FE4271C56}"/>
              </a:ext>
            </a:extLst>
          </p:cNvPr>
          <p:cNvSpPr txBox="1">
            <a:spLocks/>
          </p:cNvSpPr>
          <p:nvPr userDrawn="1"/>
        </p:nvSpPr>
        <p:spPr>
          <a:xfrm>
            <a:off x="7539796" y="1014768"/>
            <a:ext cx="1344612" cy="1137920"/>
          </a:xfrm>
          <a:prstGeom prst="rect">
            <a:avLst/>
          </a:prstGeom>
          <a:solidFill>
            <a:srgbClr val="BF8F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#BF8F55</a:t>
            </a:r>
            <a:br>
              <a:rPr lang="pt-BR" dirty="0"/>
            </a:br>
            <a:r>
              <a:rPr lang="pt-BR" dirty="0"/>
              <a:t>R: 191</a:t>
            </a:r>
            <a:br>
              <a:rPr lang="pt-BR" dirty="0"/>
            </a:br>
            <a:r>
              <a:rPr lang="pt-BR" dirty="0"/>
              <a:t>G: 143</a:t>
            </a:r>
            <a:br>
              <a:rPr lang="pt-BR" dirty="0"/>
            </a:br>
            <a:r>
              <a:rPr lang="pt-BR" dirty="0"/>
              <a:t>B: 85</a:t>
            </a:r>
          </a:p>
        </p:txBody>
      </p: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AFD5A0BA-A54D-41AA-80F3-9F591AD9B515}"/>
              </a:ext>
            </a:extLst>
          </p:cNvPr>
          <p:cNvSpPr txBox="1">
            <a:spLocks/>
          </p:cNvSpPr>
          <p:nvPr userDrawn="1"/>
        </p:nvSpPr>
        <p:spPr>
          <a:xfrm>
            <a:off x="8880217" y="1014768"/>
            <a:ext cx="1344612" cy="1137920"/>
          </a:xfrm>
          <a:prstGeom prst="rect">
            <a:avLst/>
          </a:prstGeom>
          <a:solidFill>
            <a:srgbClr val="5C68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#5C6873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92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104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115</a:t>
            </a:r>
            <a:endParaRPr lang="pt-BR" dirty="0"/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D42A9EA3-65FB-4853-9975-FEDD96675CFD}"/>
              </a:ext>
            </a:extLst>
          </p:cNvPr>
          <p:cNvSpPr txBox="1">
            <a:spLocks/>
          </p:cNvSpPr>
          <p:nvPr userDrawn="1"/>
        </p:nvSpPr>
        <p:spPr>
          <a:xfrm>
            <a:off x="7539536" y="3290608"/>
            <a:ext cx="1344612" cy="1137920"/>
          </a:xfrm>
          <a:prstGeom prst="rect">
            <a:avLst/>
          </a:prstGeom>
          <a:solidFill>
            <a:srgbClr val="D1AF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#D1AF84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R: 209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G: 175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B: 132</a:t>
            </a:r>
          </a:p>
        </p:txBody>
      </p:sp>
      <p:sp>
        <p:nvSpPr>
          <p:cNvPr id="19" name="Szöveg helye 2">
            <a:extLst>
              <a:ext uri="{FF2B5EF4-FFF2-40B4-BE49-F238E27FC236}">
                <a16:creationId xmlns:a16="http://schemas.microsoft.com/office/drawing/2014/main" id="{B681D54D-016F-47EA-A7FF-C16036335F69}"/>
              </a:ext>
            </a:extLst>
          </p:cNvPr>
          <p:cNvSpPr txBox="1">
            <a:spLocks/>
          </p:cNvSpPr>
          <p:nvPr userDrawn="1"/>
        </p:nvSpPr>
        <p:spPr>
          <a:xfrm>
            <a:off x="8885936" y="3290608"/>
            <a:ext cx="1344612" cy="1137920"/>
          </a:xfrm>
          <a:prstGeom prst="rect">
            <a:avLst/>
          </a:prstGeom>
          <a:solidFill>
            <a:srgbClr val="898E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#898E97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137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142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151</a:t>
            </a:r>
          </a:p>
        </p:txBody>
      </p:sp>
      <p:sp>
        <p:nvSpPr>
          <p:cNvPr id="20" name="Szöveg helye 2">
            <a:extLst>
              <a:ext uri="{FF2B5EF4-FFF2-40B4-BE49-F238E27FC236}">
                <a16:creationId xmlns:a16="http://schemas.microsoft.com/office/drawing/2014/main" id="{78C62BE3-8021-4D97-96E7-6B9FD4A7A744}"/>
              </a:ext>
            </a:extLst>
          </p:cNvPr>
          <p:cNvSpPr txBox="1">
            <a:spLocks/>
          </p:cNvSpPr>
          <p:nvPr userDrawn="1"/>
        </p:nvSpPr>
        <p:spPr>
          <a:xfrm>
            <a:off x="6197668" y="4428528"/>
            <a:ext cx="1344612" cy="1137920"/>
          </a:xfrm>
          <a:prstGeom prst="rect">
            <a:avLst/>
          </a:prstGeom>
          <a:solidFill>
            <a:srgbClr val="4D4B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#4D4B66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77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75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102</a:t>
            </a:r>
          </a:p>
        </p:txBody>
      </p:sp>
      <p:sp>
        <p:nvSpPr>
          <p:cNvPr id="21" name="Szöveg helye 2">
            <a:extLst>
              <a:ext uri="{FF2B5EF4-FFF2-40B4-BE49-F238E27FC236}">
                <a16:creationId xmlns:a16="http://schemas.microsoft.com/office/drawing/2014/main" id="{901AB510-4874-416A-B060-FE7F527AFF8B}"/>
              </a:ext>
            </a:extLst>
          </p:cNvPr>
          <p:cNvSpPr txBox="1">
            <a:spLocks/>
          </p:cNvSpPr>
          <p:nvPr userDrawn="1"/>
        </p:nvSpPr>
        <p:spPr>
          <a:xfrm>
            <a:off x="6197668" y="5566449"/>
            <a:ext cx="1344612" cy="1137920"/>
          </a:xfrm>
          <a:prstGeom prst="rect">
            <a:avLst/>
          </a:prstGeom>
          <a:solidFill>
            <a:srgbClr val="7874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#78748A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120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116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138</a:t>
            </a:r>
          </a:p>
        </p:txBody>
      </p:sp>
      <p:sp>
        <p:nvSpPr>
          <p:cNvPr id="22" name="Szöveg helye 2">
            <a:extLst>
              <a:ext uri="{FF2B5EF4-FFF2-40B4-BE49-F238E27FC236}">
                <a16:creationId xmlns:a16="http://schemas.microsoft.com/office/drawing/2014/main" id="{28661039-A9C1-470F-95C5-51A3A9A319E9}"/>
              </a:ext>
            </a:extLst>
          </p:cNvPr>
          <p:cNvSpPr txBox="1">
            <a:spLocks/>
          </p:cNvSpPr>
          <p:nvPr userDrawn="1"/>
        </p:nvSpPr>
        <p:spPr>
          <a:xfrm>
            <a:off x="7539536" y="4428529"/>
            <a:ext cx="1344612" cy="1137920"/>
          </a:xfrm>
          <a:prstGeom prst="rect">
            <a:avLst/>
          </a:prstGeom>
          <a:solidFill>
            <a:srgbClr val="DEC5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#DEC5A6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222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197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166</a:t>
            </a:r>
          </a:p>
        </p:txBody>
      </p: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D610F3FF-D6A4-4E0D-8E2B-CF8815FB9AFF}"/>
              </a:ext>
            </a:extLst>
          </p:cNvPr>
          <p:cNvSpPr txBox="1">
            <a:spLocks/>
          </p:cNvSpPr>
          <p:nvPr userDrawn="1"/>
        </p:nvSpPr>
        <p:spPr>
          <a:xfrm>
            <a:off x="8885936" y="4428529"/>
            <a:ext cx="1344612" cy="1137920"/>
          </a:xfrm>
          <a:prstGeom prst="rect">
            <a:avLst/>
          </a:prstGeom>
          <a:solidFill>
            <a:srgbClr val="A9AB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#A9ABB2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169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171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178</a:t>
            </a:r>
          </a:p>
        </p:txBody>
      </p:sp>
      <p:sp>
        <p:nvSpPr>
          <p:cNvPr id="27" name="Ellipszis 26">
            <a:extLst>
              <a:ext uri="{FF2B5EF4-FFF2-40B4-BE49-F238E27FC236}">
                <a16:creationId xmlns:a16="http://schemas.microsoft.com/office/drawing/2014/main" id="{3C4E6AF9-375B-4ED9-B39C-FA1793622028}"/>
              </a:ext>
            </a:extLst>
          </p:cNvPr>
          <p:cNvSpPr/>
          <p:nvPr/>
        </p:nvSpPr>
        <p:spPr>
          <a:xfrm>
            <a:off x="7163430" y="29499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769A7EA0-E55F-4D2B-930F-8A234D969371}"/>
              </a:ext>
            </a:extLst>
          </p:cNvPr>
          <p:cNvSpPr/>
          <p:nvPr/>
        </p:nvSpPr>
        <p:spPr>
          <a:xfrm>
            <a:off x="8413500" y="2973909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8CD33F66-FF1F-4C6E-A5A3-0FEE60D3A028}"/>
              </a:ext>
            </a:extLst>
          </p:cNvPr>
          <p:cNvSpPr/>
          <p:nvPr/>
        </p:nvSpPr>
        <p:spPr>
          <a:xfrm>
            <a:off x="9845979" y="29499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91F9E0F7-B1E8-4A36-BABB-EE470353DA4B}"/>
              </a:ext>
            </a:extLst>
          </p:cNvPr>
          <p:cNvSpPr/>
          <p:nvPr/>
        </p:nvSpPr>
        <p:spPr>
          <a:xfrm>
            <a:off x="11201164" y="2973909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" name="Ellipszis 39">
            <a:extLst>
              <a:ext uri="{FF2B5EF4-FFF2-40B4-BE49-F238E27FC236}">
                <a16:creationId xmlns:a16="http://schemas.microsoft.com/office/drawing/2014/main" id="{5EDBF66B-705B-4621-B049-B5EB05B049A5}"/>
              </a:ext>
            </a:extLst>
          </p:cNvPr>
          <p:cNvSpPr/>
          <p:nvPr userDrawn="1"/>
        </p:nvSpPr>
        <p:spPr>
          <a:xfrm>
            <a:off x="7163430" y="4083017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" name="Ellipszis 40">
            <a:extLst>
              <a:ext uri="{FF2B5EF4-FFF2-40B4-BE49-F238E27FC236}">
                <a16:creationId xmlns:a16="http://schemas.microsoft.com/office/drawing/2014/main" id="{0B64D19B-A6BB-40C6-A773-2B0ADFC0F9A5}"/>
              </a:ext>
            </a:extLst>
          </p:cNvPr>
          <p:cNvSpPr/>
          <p:nvPr userDrawn="1"/>
        </p:nvSpPr>
        <p:spPr>
          <a:xfrm>
            <a:off x="8413500" y="41070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" name="Ellipszis 41">
            <a:extLst>
              <a:ext uri="{FF2B5EF4-FFF2-40B4-BE49-F238E27FC236}">
                <a16:creationId xmlns:a16="http://schemas.microsoft.com/office/drawing/2014/main" id="{4A2A8BD0-FE39-4523-A246-408007AD8B32}"/>
              </a:ext>
            </a:extLst>
          </p:cNvPr>
          <p:cNvSpPr/>
          <p:nvPr userDrawn="1"/>
        </p:nvSpPr>
        <p:spPr>
          <a:xfrm>
            <a:off x="9845979" y="4083017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" name="Ellipszis 42">
            <a:extLst>
              <a:ext uri="{FF2B5EF4-FFF2-40B4-BE49-F238E27FC236}">
                <a16:creationId xmlns:a16="http://schemas.microsoft.com/office/drawing/2014/main" id="{48E2078D-F676-42C7-A76A-D44CEB556B68}"/>
              </a:ext>
            </a:extLst>
          </p:cNvPr>
          <p:cNvSpPr/>
          <p:nvPr userDrawn="1"/>
        </p:nvSpPr>
        <p:spPr>
          <a:xfrm>
            <a:off x="11201164" y="41070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" name="Ellipszis 43">
            <a:extLst>
              <a:ext uri="{FF2B5EF4-FFF2-40B4-BE49-F238E27FC236}">
                <a16:creationId xmlns:a16="http://schemas.microsoft.com/office/drawing/2014/main" id="{54194446-B123-416E-8346-5F81E8874556}"/>
              </a:ext>
            </a:extLst>
          </p:cNvPr>
          <p:cNvSpPr/>
          <p:nvPr userDrawn="1"/>
        </p:nvSpPr>
        <p:spPr>
          <a:xfrm>
            <a:off x="7254854" y="5220936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" name="Ellipszis 44">
            <a:extLst>
              <a:ext uri="{FF2B5EF4-FFF2-40B4-BE49-F238E27FC236}">
                <a16:creationId xmlns:a16="http://schemas.microsoft.com/office/drawing/2014/main" id="{50765198-1BC1-471C-A4BE-DFCF3F22F254}"/>
              </a:ext>
            </a:extLst>
          </p:cNvPr>
          <p:cNvSpPr/>
          <p:nvPr userDrawn="1"/>
        </p:nvSpPr>
        <p:spPr>
          <a:xfrm>
            <a:off x="8504924" y="524493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" name="Ellipszis 45">
            <a:extLst>
              <a:ext uri="{FF2B5EF4-FFF2-40B4-BE49-F238E27FC236}">
                <a16:creationId xmlns:a16="http://schemas.microsoft.com/office/drawing/2014/main" id="{D533EF4B-7BDD-487C-AF16-BFEB6E5FB8EF}"/>
              </a:ext>
            </a:extLst>
          </p:cNvPr>
          <p:cNvSpPr/>
          <p:nvPr userDrawn="1"/>
        </p:nvSpPr>
        <p:spPr>
          <a:xfrm>
            <a:off x="9937403" y="5220936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" name="Ellipszis 46">
            <a:extLst>
              <a:ext uri="{FF2B5EF4-FFF2-40B4-BE49-F238E27FC236}">
                <a16:creationId xmlns:a16="http://schemas.microsoft.com/office/drawing/2014/main" id="{AA6D6282-BA5E-43A9-A300-F73D20D15142}"/>
              </a:ext>
            </a:extLst>
          </p:cNvPr>
          <p:cNvSpPr/>
          <p:nvPr userDrawn="1"/>
        </p:nvSpPr>
        <p:spPr>
          <a:xfrm>
            <a:off x="11292588" y="524493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" name="Ellipszis 47">
            <a:extLst>
              <a:ext uri="{FF2B5EF4-FFF2-40B4-BE49-F238E27FC236}">
                <a16:creationId xmlns:a16="http://schemas.microsoft.com/office/drawing/2014/main" id="{DDD38DAA-C185-4598-9B0C-4BFF3C60C9D3}"/>
              </a:ext>
            </a:extLst>
          </p:cNvPr>
          <p:cNvSpPr/>
          <p:nvPr userDrawn="1"/>
        </p:nvSpPr>
        <p:spPr>
          <a:xfrm>
            <a:off x="7236184" y="635500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34615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Ábra 4">
            <a:extLst>
              <a:ext uri="{FF2B5EF4-FFF2-40B4-BE49-F238E27FC236}">
                <a16:creationId xmlns:a16="http://schemas.microsoft.com/office/drawing/2014/main" id="{974488C6-1BF6-46F1-9432-34AC08BF8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9341" y="3301375"/>
            <a:ext cx="2839260" cy="2839261"/>
          </a:xfrm>
          <a:prstGeom prst="rect">
            <a:avLst/>
          </a:prstGeom>
        </p:spPr>
      </p:pic>
      <p:pic>
        <p:nvPicPr>
          <p:cNvPr id="7" name="Ábra 6">
            <a:extLst>
              <a:ext uri="{FF2B5EF4-FFF2-40B4-BE49-F238E27FC236}">
                <a16:creationId xmlns:a16="http://schemas.microsoft.com/office/drawing/2014/main" id="{25252A8F-1937-4613-8EFA-9D346E05C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0952" y="1343871"/>
            <a:ext cx="1379721" cy="1619177"/>
          </a:xfrm>
          <a:prstGeom prst="rect">
            <a:avLst/>
          </a:prstGeom>
        </p:spPr>
      </p:pic>
      <p:pic>
        <p:nvPicPr>
          <p:cNvPr id="8" name="Ábra 7">
            <a:extLst>
              <a:ext uri="{FF2B5EF4-FFF2-40B4-BE49-F238E27FC236}">
                <a16:creationId xmlns:a16="http://schemas.microsoft.com/office/drawing/2014/main" id="{87E42343-1EC1-4912-B195-8897B8606F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69976" y="2870270"/>
            <a:ext cx="558730" cy="558730"/>
          </a:xfrm>
          <a:prstGeom prst="rect">
            <a:avLst/>
          </a:prstGeom>
        </p:spPr>
      </p:pic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CD5B022D-3CB7-4C29-9EB1-2944CD07FE6B}"/>
              </a:ext>
            </a:extLst>
          </p:cNvPr>
          <p:cNvGrpSpPr/>
          <p:nvPr/>
        </p:nvGrpSpPr>
        <p:grpSpPr>
          <a:xfrm>
            <a:off x="6102376" y="3586442"/>
            <a:ext cx="2269127" cy="2269128"/>
            <a:chOff x="5239584" y="2481262"/>
            <a:chExt cx="1895475" cy="1895475"/>
          </a:xfrm>
        </p:grpSpPr>
        <p:pic>
          <p:nvPicPr>
            <p:cNvPr id="10" name="Ábra 9">
              <a:extLst>
                <a:ext uri="{FF2B5EF4-FFF2-40B4-BE49-F238E27FC236}">
                  <a16:creationId xmlns:a16="http://schemas.microsoft.com/office/drawing/2014/main" id="{7FCD9CC9-B31A-430F-BF86-4F9F056CF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39584" y="2481262"/>
              <a:ext cx="1895475" cy="1895475"/>
            </a:xfrm>
            <a:prstGeom prst="rect">
              <a:avLst/>
            </a:prstGeom>
          </p:spPr>
        </p:pic>
        <p:pic>
          <p:nvPicPr>
            <p:cNvPr id="11" name="Ábra 10">
              <a:extLst>
                <a:ext uri="{FF2B5EF4-FFF2-40B4-BE49-F238E27FC236}">
                  <a16:creationId xmlns:a16="http://schemas.microsoft.com/office/drawing/2014/main" id="{7F84FB8B-8B81-41A8-AB56-04098A1A0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68250" y="3209925"/>
              <a:ext cx="438150" cy="438150"/>
            </a:xfrm>
            <a:prstGeom prst="rect">
              <a:avLst/>
            </a:prstGeom>
          </p:spPr>
        </p:pic>
      </p:grpSp>
      <p:sp>
        <p:nvSpPr>
          <p:cNvPr id="13" name="Szöveg helye 29">
            <a:extLst>
              <a:ext uri="{FF2B5EF4-FFF2-40B4-BE49-F238E27FC236}">
                <a16:creationId xmlns:a16="http://schemas.microsoft.com/office/drawing/2014/main" id="{6863C8A6-7D07-4239-910C-77D3E79A0C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0395" y="2619980"/>
            <a:ext cx="4781551" cy="34210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800" b="0" i="0" baseline="0">
                <a:solidFill>
                  <a:schemeClr val="accent1"/>
                </a:solidFill>
                <a:latin typeface="Arial "/>
              </a:defRPr>
            </a:lvl1pPr>
          </a:lstStyle>
          <a:p>
            <a:r>
              <a:rPr lang="hu-HU" dirty="0"/>
              <a:t>Az itt található grafikai elemek szabadon felhasználhatók díszitő elemként.</a:t>
            </a:r>
          </a:p>
          <a:p>
            <a:r>
              <a:rPr lang="hu-HU" dirty="0"/>
              <a:t>A Corvinus színpalettájából átszínezhetők.</a:t>
            </a:r>
          </a:p>
          <a:p>
            <a:r>
              <a:rPr lang="hu-HU" dirty="0"/>
              <a:t>Fehérre színezve és képre ráhelyezve mutatós dia készíthető.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939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E2FA13-E2E8-477F-A01D-4CEE2C6AB77C}"/>
              </a:ext>
            </a:extLst>
          </p:cNvPr>
          <p:cNvSpPr txBox="1">
            <a:spLocks/>
          </p:cNvSpPr>
          <p:nvPr/>
        </p:nvSpPr>
        <p:spPr>
          <a:xfrm>
            <a:off x="1042988" y="2852738"/>
            <a:ext cx="3167062" cy="34210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>
                <a:solidFill>
                  <a:schemeClr val="accent1"/>
                </a:solidFill>
              </a:rPr>
              <a:t>Ezen az oldalon egy táblázat mintát mutatunk be, amit lehet bővíteni, szűkíteni, átszínezni.</a:t>
            </a:r>
          </a:p>
          <a:p>
            <a:endParaRPr lang="hu-HU" dirty="0">
              <a:solidFill>
                <a:schemeClr val="accent1"/>
              </a:solidFill>
            </a:endParaRPr>
          </a:p>
          <a:p>
            <a:r>
              <a:rPr lang="hu-HU" dirty="0">
                <a:solidFill>
                  <a:schemeClr val="accent1"/>
                </a:solidFill>
              </a:rPr>
              <a:t>A ppt-be beépített táblázatok a </a:t>
            </a:r>
            <a:r>
              <a:rPr lang="en-US" dirty="0">
                <a:solidFill>
                  <a:schemeClr val="accent1"/>
                </a:solidFill>
              </a:rPr>
              <a:t>Corvinus színséma szerint vesz fel </a:t>
            </a:r>
            <a:r>
              <a:rPr lang="en-US" dirty="0" err="1">
                <a:solidFill>
                  <a:schemeClr val="accent1"/>
                </a:solidFill>
              </a:rPr>
              <a:t>árnyalatokat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hu-HU" dirty="0">
              <a:solidFill>
                <a:schemeClr val="accent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5828C34-E8A6-4A47-AFBC-17911EEF09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Táblázat minta</a:t>
            </a:r>
          </a:p>
        </p:txBody>
      </p:sp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8314924A-2DE0-4D01-ABDF-22AD7B031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627468"/>
              </p:ext>
            </p:extLst>
          </p:nvPr>
        </p:nvGraphicFramePr>
        <p:xfrm>
          <a:off x="4672013" y="3049232"/>
          <a:ext cx="661987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13">
                  <a:extLst>
                    <a:ext uri="{9D8B030D-6E8A-4147-A177-3AD203B41FA5}">
                      <a16:colId xmlns:a16="http://schemas.microsoft.com/office/drawing/2014/main" val="2201860919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2254881536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93268877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3955977677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302196946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715767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64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8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1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2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48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519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31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helye 5">
            <a:extLst>
              <a:ext uri="{FF2B5EF4-FFF2-40B4-BE49-F238E27FC236}">
                <a16:creationId xmlns:a16="http://schemas.microsoft.com/office/drawing/2014/main" id="{66742DF6-F6D0-44ED-BE86-7CFF97F2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noProof="0"/>
              <a:t>Mintacím szerkesztése</a:t>
            </a:r>
            <a:endParaRPr lang="hu-HU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F5E78691-B463-45BC-A7F8-9D5BBC5F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649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FE4F2EDA-D901-4835-8C80-7FFCFE8FDE37}"/>
              </a:ext>
            </a:extLst>
          </p:cNvPr>
          <p:cNvSpPr txBox="1">
            <a:spLocks/>
          </p:cNvSpPr>
          <p:nvPr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CA5128C-8080-4D6C-ACC9-4612070BD095}" type="slidenum">
              <a:rPr lang="hu-HU" sz="1100" smtClean="0"/>
              <a:t>‹#›</a:t>
            </a:fld>
            <a:endParaRPr lang="hu-HU" sz="1100" dirty="0"/>
          </a:p>
        </p:txBody>
      </p:sp>
      <p:sp>
        <p:nvSpPr>
          <p:cNvPr id="5" name="Cím helye 1">
            <a:extLst>
              <a:ext uri="{FF2B5EF4-FFF2-40B4-BE49-F238E27FC236}">
                <a16:creationId xmlns:a16="http://schemas.microsoft.com/office/drawing/2014/main" id="{D32DE082-8A60-4100-B7CB-F39474DA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620"/>
            <a:ext cx="10082842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09CFBA87-7CFA-49F5-84DE-05A76C399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pic>
        <p:nvPicPr>
          <p:cNvPr id="10" name="Kép 8">
            <a:extLst>
              <a:ext uri="{FF2B5EF4-FFF2-40B4-BE49-F238E27FC236}">
                <a16:creationId xmlns:a16="http://schemas.microsoft.com/office/drawing/2014/main" id="{565D4E91-BC19-4E9E-80F5-487DD00E08B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9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5C832"/>
        </a:buClr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FC3CB45F-117B-466B-B5D1-428FF2F57857}"/>
              </a:ext>
            </a:extLst>
          </p:cNvPr>
          <p:cNvSpPr txBox="1">
            <a:spLocks/>
          </p:cNvSpPr>
          <p:nvPr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7219C-298C-485E-9732-5DCFA723F33A}" type="slidenum">
              <a:rPr lang="hu-HU" sz="1100" smtClean="0"/>
              <a:t>‹#›</a:t>
            </a:fld>
            <a:endParaRPr lang="hu-HU" sz="1100" dirty="0"/>
          </a:p>
        </p:txBody>
      </p:sp>
      <p:pic>
        <p:nvPicPr>
          <p:cNvPr id="5" name="Kép 8">
            <a:extLst>
              <a:ext uri="{FF2B5EF4-FFF2-40B4-BE49-F238E27FC236}">
                <a16:creationId xmlns:a16="http://schemas.microsoft.com/office/drawing/2014/main" id="{D4CA1A37-9EF9-4A98-9907-8993BBABD1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9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A78239-9534-4DFD-9BF8-F33BDADFB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EE57F-8A73-4B52-8F8E-22838C9BE6DC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7" name="Cím helye 1">
            <a:extLst>
              <a:ext uri="{FF2B5EF4-FFF2-40B4-BE49-F238E27FC236}">
                <a16:creationId xmlns:a16="http://schemas.microsoft.com/office/drawing/2014/main" id="{71A3BCAF-6857-42E0-B5DB-669957AD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82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B589EAB6-7E3A-4BAC-A41B-F4932FE30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7783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5C83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59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8">
            <a:extLst>
              <a:ext uri="{FF2B5EF4-FFF2-40B4-BE49-F238E27FC236}">
                <a16:creationId xmlns:a16="http://schemas.microsoft.com/office/drawing/2014/main" id="{7F4D4434-6C2A-4BE9-8899-BCEF40635B1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A2C286-7149-4CA2-951B-1B855E181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does a merger between airlines affect prices</a:t>
            </a:r>
            <a:r>
              <a:rPr lang="hu-HU" dirty="0"/>
              <a:t>?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1F2E2B-0BFE-486C-9614-7FBD64F6B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</a:t>
            </a:r>
            <a:r>
              <a:rPr lang="hu-HU" dirty="0"/>
              <a:t>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0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setting</a:t>
            </a:r>
            <a:endParaRPr lang="en-US" dirty="0"/>
          </a:p>
        </p:txBody>
      </p:sp>
      <p:sp>
        <p:nvSpPr>
          <p:cNvPr id="5" name="Tartalom helye 5">
            <a:extLst>
              <a:ext uri="{FF2B5EF4-FFF2-40B4-BE49-F238E27FC236}">
                <a16:creationId xmlns:a16="http://schemas.microsoft.com/office/drawing/2014/main" id="{9DE1E3F9-E5DC-61F8-46E0-8A577051D9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6296694" cy="4918075"/>
          </a:xfrm>
        </p:spPr>
        <p:txBody>
          <a:bodyPr>
            <a:normAutofit/>
          </a:bodyPr>
          <a:lstStyle/>
          <a:p>
            <a:r>
              <a:rPr lang="en-US" sz="2000" dirty="0"/>
              <a:t>The effect of a merger on prices can be </a:t>
            </a:r>
            <a:r>
              <a:rPr lang="en-US" sz="2000" i="1" dirty="0"/>
              <a:t>positive</a:t>
            </a:r>
            <a:r>
              <a:rPr lang="en-US" sz="2000" dirty="0"/>
              <a:t>: efficiency gain, economies of scale </a:t>
            </a:r>
            <a:r>
              <a:rPr lang="hu-HU" sz="2000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sym typeface="Wingdings" panose="05000000000000000000" pitchFamily="2" charset="2"/>
              </a:rPr>
              <a:t>lower costs</a:t>
            </a:r>
            <a:r>
              <a:rPr lang="hu-HU" sz="2000" dirty="0">
                <a:sym typeface="Wingdings" panose="05000000000000000000" pitchFamily="2" charset="2"/>
              </a:rPr>
              <a:t> and </a:t>
            </a:r>
            <a:r>
              <a:rPr lang="hu-HU" sz="2000" dirty="0" err="1">
                <a:sym typeface="Wingdings" panose="05000000000000000000" pitchFamily="2" charset="2"/>
              </a:rPr>
              <a:t>prices</a:t>
            </a:r>
            <a:r>
              <a:rPr lang="hu-HU" sz="2000" dirty="0">
                <a:sym typeface="Wingdings" panose="05000000000000000000" pitchFamily="2" charset="2"/>
              </a:rPr>
              <a:t>.</a:t>
            </a:r>
            <a:endParaRPr lang="hu-HU" sz="2000" dirty="0"/>
          </a:p>
          <a:p>
            <a:r>
              <a:rPr lang="en-US" sz="2000" dirty="0"/>
              <a:t>The effect of a merger on prices can be </a:t>
            </a:r>
            <a:r>
              <a:rPr lang="en-US" sz="2000" i="1" dirty="0"/>
              <a:t>negative</a:t>
            </a:r>
            <a:r>
              <a:rPr lang="en-US" sz="2000" dirty="0"/>
              <a:t>: increasing market power </a:t>
            </a:r>
            <a:r>
              <a:rPr lang="en-US" sz="2000" dirty="0">
                <a:sym typeface="Wingdings" panose="05000000000000000000" pitchFamily="2" charset="2"/>
              </a:rPr>
              <a:t> higher prices</a:t>
            </a:r>
            <a:r>
              <a:rPr lang="hu-HU" sz="2000" dirty="0">
                <a:sym typeface="Wingdings" panose="05000000000000000000" pitchFamily="2" charset="2"/>
              </a:rPr>
              <a:t>.</a:t>
            </a:r>
          </a:p>
          <a:p>
            <a:endParaRPr lang="hu-HU" sz="2000" dirty="0">
              <a:sym typeface="Wingdings" panose="05000000000000000000" pitchFamily="2" charset="2"/>
            </a:endParaRPr>
          </a:p>
          <a:p>
            <a:r>
              <a:rPr lang="hu-HU" sz="2000" dirty="0" err="1">
                <a:sym typeface="Wingdings" panose="05000000000000000000" pitchFamily="2" charset="2"/>
              </a:rPr>
              <a:t>We</a:t>
            </a:r>
            <a:r>
              <a:rPr lang="hu-HU" sz="2000" dirty="0">
                <a:sym typeface="Wingdings" panose="05000000000000000000" pitchFamily="2" charset="2"/>
              </a:rPr>
              <a:t> </a:t>
            </a:r>
            <a:r>
              <a:rPr lang="hu-HU" sz="2000" dirty="0" err="1">
                <a:sym typeface="Wingdings" panose="05000000000000000000" pitchFamily="2" charset="2"/>
              </a:rPr>
              <a:t>are</a:t>
            </a:r>
            <a:r>
              <a:rPr lang="hu-HU" sz="2000" dirty="0">
                <a:sym typeface="Wingdings" panose="05000000000000000000" pitchFamily="2" charset="2"/>
              </a:rPr>
              <a:t> </a:t>
            </a:r>
            <a:r>
              <a:rPr lang="hu-HU" sz="2000" dirty="0" err="1">
                <a:sym typeface="Wingdings" panose="05000000000000000000" pitchFamily="2" charset="2"/>
              </a:rPr>
              <a:t>doing</a:t>
            </a:r>
            <a:r>
              <a:rPr lang="hu-HU" sz="2000" dirty="0">
                <a:sym typeface="Wingdings" panose="05000000000000000000" pitchFamily="2" charset="2"/>
              </a:rPr>
              <a:t> an ex post </a:t>
            </a:r>
            <a:r>
              <a:rPr lang="hu-HU" sz="2000" dirty="0" err="1">
                <a:sym typeface="Wingdings" panose="05000000000000000000" pitchFamily="2" charset="2"/>
              </a:rPr>
              <a:t>merger</a:t>
            </a:r>
            <a:r>
              <a:rPr lang="hu-HU" sz="2000" dirty="0">
                <a:sym typeface="Wingdings" panose="05000000000000000000" pitchFamily="2" charset="2"/>
              </a:rPr>
              <a:t> </a:t>
            </a:r>
            <a:r>
              <a:rPr lang="hu-HU" sz="2000" dirty="0" err="1">
                <a:sym typeface="Wingdings" panose="05000000000000000000" pitchFamily="2" charset="2"/>
              </a:rPr>
              <a:t>analysis</a:t>
            </a:r>
            <a:r>
              <a:rPr lang="hu-HU" sz="2000" dirty="0">
                <a:sym typeface="Wingdings" panose="05000000000000000000" pitchFamily="2" charset="2"/>
              </a:rPr>
              <a:t>:</a:t>
            </a:r>
            <a:endParaRPr lang="hu-HU" sz="1800" dirty="0">
              <a:sym typeface="Wingdings" panose="05000000000000000000" pitchFamily="2" charset="2"/>
            </a:endParaRPr>
          </a:p>
          <a:p>
            <a:pPr lvl="1"/>
            <a:r>
              <a:rPr lang="hu-HU" sz="1800" dirty="0">
                <a:sym typeface="Wingdings" panose="05000000000000000000" pitchFamily="2" charset="2"/>
              </a:rPr>
              <a:t>Data </a:t>
            </a:r>
            <a:r>
              <a:rPr lang="hu-HU" sz="1800" dirty="0" err="1">
                <a:sym typeface="Wingdings" panose="05000000000000000000" pitchFamily="2" charset="2"/>
              </a:rPr>
              <a:t>source</a:t>
            </a:r>
            <a:r>
              <a:rPr lang="hu-HU" sz="1800" dirty="0">
                <a:sym typeface="Wingdings" panose="05000000000000000000" pitchFamily="2" charset="2"/>
              </a:rPr>
              <a:t>: US </a:t>
            </a:r>
            <a:r>
              <a:rPr lang="hu-HU" sz="1800" dirty="0" err="1">
                <a:sym typeface="Wingdings" panose="05000000000000000000" pitchFamily="2" charset="2"/>
              </a:rPr>
              <a:t>Department</a:t>
            </a:r>
            <a:r>
              <a:rPr lang="hu-HU" sz="1800" dirty="0">
                <a:sym typeface="Wingdings" panose="05000000000000000000" pitchFamily="2" charset="2"/>
              </a:rPr>
              <a:t> of </a:t>
            </a:r>
            <a:r>
              <a:rPr lang="hu-HU" sz="1800" dirty="0" err="1">
                <a:sym typeface="Wingdings" panose="05000000000000000000" pitchFamily="2" charset="2"/>
              </a:rPr>
              <a:t>Transportation</a:t>
            </a:r>
            <a:endParaRPr lang="hu-HU" sz="1800" dirty="0">
              <a:sym typeface="Wingdings" panose="05000000000000000000" pitchFamily="2" charset="2"/>
            </a:endParaRPr>
          </a:p>
          <a:p>
            <a:pPr lvl="1"/>
            <a:r>
              <a:rPr lang="hu-HU" sz="1800" dirty="0" err="1">
                <a:sym typeface="Wingdings" panose="05000000000000000000" pitchFamily="2" charset="2"/>
              </a:rPr>
              <a:t>Dataset</a:t>
            </a:r>
            <a:r>
              <a:rPr lang="hu-HU" sz="1800" dirty="0">
                <a:sym typeface="Wingdings" panose="05000000000000000000" pitchFamily="2" charset="2"/>
              </a:rPr>
              <a:t>: a 10% </a:t>
            </a:r>
            <a:r>
              <a:rPr lang="hu-HU" sz="1800" dirty="0" err="1">
                <a:sym typeface="Wingdings" panose="05000000000000000000" pitchFamily="2" charset="2"/>
              </a:rPr>
              <a:t>sample</a:t>
            </a:r>
            <a:r>
              <a:rPr lang="hu-HU" sz="1800" dirty="0">
                <a:sym typeface="Wingdings" panose="05000000000000000000" pitchFamily="2" charset="2"/>
              </a:rPr>
              <a:t> of </a:t>
            </a:r>
            <a:r>
              <a:rPr lang="hu-HU" sz="1800" dirty="0" err="1">
                <a:sym typeface="Wingdings" panose="05000000000000000000" pitchFamily="2" charset="2"/>
              </a:rPr>
              <a:t>all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tickets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sold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on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the</a:t>
            </a:r>
            <a:r>
              <a:rPr lang="hu-HU" sz="1800" dirty="0">
                <a:sym typeface="Wingdings" panose="05000000000000000000" pitchFamily="2" charset="2"/>
              </a:rPr>
              <a:t> US market.</a:t>
            </a:r>
          </a:p>
          <a:p>
            <a:endParaRPr lang="en-US" sz="2000" dirty="0"/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EB5E76CE-7815-5DA1-D279-246D11956D9D}"/>
              </a:ext>
            </a:extLst>
          </p:cNvPr>
          <p:cNvCxnSpPr/>
          <p:nvPr/>
        </p:nvCxnSpPr>
        <p:spPr>
          <a:xfrm flipV="1">
            <a:off x="9358604" y="1604865"/>
            <a:ext cx="0" cy="436672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E23E7ABC-D379-AA3E-18C1-720BE57D9ED7}"/>
              </a:ext>
            </a:extLst>
          </p:cNvPr>
          <p:cNvSpPr txBox="1"/>
          <p:nvPr/>
        </p:nvSpPr>
        <p:spPr>
          <a:xfrm>
            <a:off x="8040652" y="4866515"/>
            <a:ext cx="1166325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dirty="0"/>
              <a:t>November 2011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6081E98-0888-0488-CD1F-3A046F1014BC}"/>
              </a:ext>
            </a:extLst>
          </p:cNvPr>
          <p:cNvSpPr txBox="1"/>
          <p:nvPr/>
        </p:nvSpPr>
        <p:spPr>
          <a:xfrm>
            <a:off x="9510232" y="4866515"/>
            <a:ext cx="2442279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sz="1800" dirty="0">
                <a:sym typeface="Wingdings" panose="05000000000000000000" pitchFamily="2" charset="2"/>
              </a:rPr>
              <a:t>American Airlines (AA) </a:t>
            </a:r>
            <a:r>
              <a:rPr lang="hu-HU" sz="1800" dirty="0" err="1">
                <a:sym typeface="Wingdings" panose="05000000000000000000" pitchFamily="2" charset="2"/>
              </a:rPr>
              <a:t>files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for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bankruptcy</a:t>
            </a:r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25A2660-713B-94F2-DB96-D7EA8FF4083B}"/>
              </a:ext>
            </a:extLst>
          </p:cNvPr>
          <p:cNvSpPr txBox="1"/>
          <p:nvPr/>
        </p:nvSpPr>
        <p:spPr>
          <a:xfrm>
            <a:off x="8040651" y="4159039"/>
            <a:ext cx="1166325" cy="276999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dirty="0"/>
              <a:t>2012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D4568FC-CC91-1907-AFEC-6191EFB010C0}"/>
              </a:ext>
            </a:extLst>
          </p:cNvPr>
          <p:cNvSpPr txBox="1"/>
          <p:nvPr/>
        </p:nvSpPr>
        <p:spPr>
          <a:xfrm>
            <a:off x="9510232" y="4020540"/>
            <a:ext cx="2572910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sz="1800" dirty="0">
                <a:sym typeface="Wingdings" panose="05000000000000000000" pitchFamily="2" charset="2"/>
              </a:rPr>
              <a:t>US Airways </a:t>
            </a:r>
            <a:r>
              <a:rPr lang="hu-HU" sz="1800" dirty="0" err="1">
                <a:sym typeface="Wingdings" panose="05000000000000000000" pitchFamily="2" charset="2"/>
              </a:rPr>
              <a:t>announces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its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intent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to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take</a:t>
            </a:r>
            <a:r>
              <a:rPr lang="hu-HU" sz="1800" dirty="0">
                <a:sym typeface="Wingdings" panose="05000000000000000000" pitchFamily="2" charset="2"/>
              </a:rPr>
              <a:t> over AA</a:t>
            </a:r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52791BE-4C94-2763-4546-90EE8AD58274}"/>
              </a:ext>
            </a:extLst>
          </p:cNvPr>
          <p:cNvSpPr txBox="1"/>
          <p:nvPr/>
        </p:nvSpPr>
        <p:spPr>
          <a:xfrm>
            <a:off x="8040651" y="3234230"/>
            <a:ext cx="1166325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dirty="0" err="1"/>
              <a:t>April</a:t>
            </a:r>
            <a:endParaRPr lang="hu-HU" dirty="0"/>
          </a:p>
          <a:p>
            <a:pPr algn="ctr"/>
            <a:r>
              <a:rPr lang="hu-HU" dirty="0"/>
              <a:t> 2015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C198F4A-32A1-D656-6980-E8C270B81FE1}"/>
              </a:ext>
            </a:extLst>
          </p:cNvPr>
          <p:cNvSpPr txBox="1"/>
          <p:nvPr/>
        </p:nvSpPr>
        <p:spPr>
          <a:xfrm>
            <a:off x="9591481" y="3234230"/>
            <a:ext cx="2279779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sz="1800" dirty="0" err="1">
                <a:sym typeface="Wingdings" panose="05000000000000000000" pitchFamily="2" charset="2"/>
              </a:rPr>
              <a:t>Merger</a:t>
            </a:r>
            <a:r>
              <a:rPr lang="hu-HU" sz="1800" dirty="0">
                <a:sym typeface="Wingdings" panose="05000000000000000000" pitchFamily="2" charset="2"/>
              </a:rPr>
              <a:t> is </a:t>
            </a:r>
            <a:r>
              <a:rPr lang="hu-HU" sz="1800" dirty="0" err="1">
                <a:sym typeface="Wingdings" panose="05000000000000000000" pitchFamily="2" charset="2"/>
              </a:rPr>
              <a:t>allowed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by</a:t>
            </a:r>
            <a:r>
              <a:rPr lang="hu-HU" sz="1800" dirty="0">
                <a:sym typeface="Wingdings" panose="05000000000000000000" pitchFamily="2" charset="2"/>
              </a:rPr>
              <a:t> </a:t>
            </a:r>
            <a:r>
              <a:rPr lang="hu-HU" sz="1800" dirty="0" err="1">
                <a:sym typeface="Wingdings" panose="05000000000000000000" pitchFamily="2" charset="2"/>
              </a:rPr>
              <a:t>the</a:t>
            </a:r>
            <a:r>
              <a:rPr lang="hu-HU" sz="1800" dirty="0">
                <a:sym typeface="Wingdings" panose="05000000000000000000" pitchFamily="2" charset="2"/>
              </a:rPr>
              <a:t> regulators</a:t>
            </a:r>
            <a:endParaRPr lang="hu-HU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117DC40-E9FC-D01C-C512-022F869AE560}"/>
              </a:ext>
            </a:extLst>
          </p:cNvPr>
          <p:cNvSpPr txBox="1"/>
          <p:nvPr/>
        </p:nvSpPr>
        <p:spPr>
          <a:xfrm>
            <a:off x="8040651" y="2250553"/>
            <a:ext cx="1166325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dirty="0"/>
              <a:t>2</a:t>
            </a:r>
            <a:r>
              <a:rPr lang="hu-HU" baseline="30000" dirty="0"/>
              <a:t>nd</a:t>
            </a:r>
            <a:r>
              <a:rPr lang="hu-HU" dirty="0"/>
              <a:t> part of</a:t>
            </a:r>
          </a:p>
          <a:p>
            <a:pPr algn="ctr"/>
            <a:r>
              <a:rPr lang="hu-HU" dirty="0"/>
              <a:t> 2015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1ADF1DF-2AC4-80DA-3FA2-04215E2A13FB}"/>
              </a:ext>
            </a:extLst>
          </p:cNvPr>
          <p:cNvSpPr txBox="1"/>
          <p:nvPr/>
        </p:nvSpPr>
        <p:spPr>
          <a:xfrm>
            <a:off x="9788004" y="2250553"/>
            <a:ext cx="1886731" cy="55399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hu-HU" sz="1800" dirty="0" err="1">
                <a:sym typeface="Wingdings" panose="05000000000000000000" pitchFamily="2" charset="2"/>
              </a:rPr>
              <a:t>Merger</a:t>
            </a:r>
            <a:r>
              <a:rPr lang="hu-HU" sz="1800" dirty="0">
                <a:sym typeface="Wingdings" panose="05000000000000000000" pitchFamily="2" charset="2"/>
              </a:rPr>
              <a:t> is </a:t>
            </a:r>
            <a:r>
              <a:rPr lang="hu-HU" sz="1800" dirty="0" err="1">
                <a:sym typeface="Wingdings" panose="05000000000000000000" pitchFamily="2" charset="2"/>
              </a:rPr>
              <a:t>materialized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7147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setting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Research question: </a:t>
            </a:r>
            <a:r>
              <a:rPr lang="hu-HU" sz="2400" dirty="0" err="1"/>
              <a:t>How</a:t>
            </a:r>
            <a:r>
              <a:rPr lang="hu-HU" sz="2400" dirty="0"/>
              <a:t> </a:t>
            </a:r>
            <a:r>
              <a:rPr lang="hu-HU" sz="2400" dirty="0" err="1"/>
              <a:t>does</a:t>
            </a:r>
            <a:r>
              <a:rPr lang="hu-HU" sz="2400" dirty="0"/>
              <a:t> a </a:t>
            </a:r>
            <a:r>
              <a:rPr lang="hu-HU" sz="2400" dirty="0" err="1"/>
              <a:t>merger</a:t>
            </a:r>
            <a:r>
              <a:rPr lang="hu-HU" sz="2400" dirty="0"/>
              <a:t> </a:t>
            </a:r>
            <a:r>
              <a:rPr lang="hu-HU" sz="2400" dirty="0" err="1"/>
              <a:t>between</a:t>
            </a:r>
            <a:r>
              <a:rPr lang="hu-HU" sz="2400" dirty="0"/>
              <a:t> </a:t>
            </a:r>
            <a:r>
              <a:rPr lang="hu-HU" sz="2400" dirty="0" err="1"/>
              <a:t>airlines</a:t>
            </a:r>
            <a:r>
              <a:rPr lang="hu-HU" sz="2400" dirty="0"/>
              <a:t> </a:t>
            </a:r>
            <a:r>
              <a:rPr lang="hu-HU" sz="2400" dirty="0" err="1"/>
              <a:t>affect</a:t>
            </a:r>
            <a:r>
              <a:rPr lang="hu-HU" sz="2400" dirty="0"/>
              <a:t> </a:t>
            </a:r>
            <a:r>
              <a:rPr lang="hu-HU" sz="2400" dirty="0" err="1"/>
              <a:t>prices</a:t>
            </a:r>
            <a:r>
              <a:rPr lang="en-US" sz="2400" dirty="0"/>
              <a:t>?</a:t>
            </a:r>
          </a:p>
          <a:p>
            <a:endParaRPr lang="hu-HU" sz="2400" dirty="0"/>
          </a:p>
          <a:p>
            <a:r>
              <a:rPr lang="en-US" sz="2400" dirty="0"/>
              <a:t>Intervention: a </a:t>
            </a:r>
            <a:r>
              <a:rPr lang="hu-HU" sz="2400" dirty="0" err="1"/>
              <a:t>merger</a:t>
            </a:r>
            <a:r>
              <a:rPr lang="hu-HU" sz="2400" dirty="0"/>
              <a:t> </a:t>
            </a:r>
            <a:r>
              <a:rPr lang="hu-HU" sz="2400" dirty="0" err="1"/>
              <a:t>between</a:t>
            </a:r>
            <a:r>
              <a:rPr lang="hu-HU" sz="2400" dirty="0"/>
              <a:t> </a:t>
            </a:r>
            <a:r>
              <a:rPr lang="hu-HU" sz="2400" dirty="0" err="1"/>
              <a:t>two</a:t>
            </a:r>
            <a:r>
              <a:rPr lang="hu-HU" sz="2400" dirty="0"/>
              <a:t> </a:t>
            </a:r>
            <a:r>
              <a:rPr lang="hu-HU" sz="2400" dirty="0" err="1"/>
              <a:t>companies</a:t>
            </a:r>
            <a:endParaRPr lang="hu-HU" sz="2400" dirty="0"/>
          </a:p>
          <a:p>
            <a:endParaRPr lang="hu-HU" sz="2400" dirty="0"/>
          </a:p>
          <a:p>
            <a:r>
              <a:rPr lang="en-US" sz="2400" dirty="0"/>
              <a:t>Subjects: </a:t>
            </a:r>
            <a:r>
              <a:rPr lang="hu-HU" sz="2400" dirty="0" err="1"/>
              <a:t>markets</a:t>
            </a:r>
            <a:endParaRPr lang="en-US" sz="2400" dirty="0"/>
          </a:p>
          <a:p>
            <a:endParaRPr lang="en-US" sz="2400" dirty="0"/>
          </a:p>
          <a:p>
            <a:r>
              <a:rPr lang="hu-HU" sz="2400" dirty="0" err="1"/>
              <a:t>Outcome</a:t>
            </a:r>
            <a:r>
              <a:rPr lang="hu-HU" sz="2400" dirty="0"/>
              <a:t> </a:t>
            </a:r>
            <a:r>
              <a:rPr lang="hu-HU" sz="2400" dirty="0" err="1"/>
              <a:t>variable</a:t>
            </a:r>
            <a:r>
              <a:rPr lang="hu-HU" sz="2400" dirty="0"/>
              <a:t>: </a:t>
            </a:r>
            <a:r>
              <a:rPr lang="hu-HU" sz="2400" dirty="0" err="1"/>
              <a:t>average</a:t>
            </a:r>
            <a:r>
              <a:rPr lang="hu-HU" sz="2400" dirty="0"/>
              <a:t> </a:t>
            </a:r>
            <a:r>
              <a:rPr lang="hu-HU" sz="2400" dirty="0" err="1"/>
              <a:t>price</a:t>
            </a:r>
            <a:endParaRPr lang="hu-HU" sz="2400" dirty="0"/>
          </a:p>
          <a:p>
            <a:endParaRPr lang="hu-HU" sz="2400" dirty="0"/>
          </a:p>
          <a:p>
            <a:r>
              <a:rPr lang="hu-HU" sz="2400" dirty="0" err="1"/>
              <a:t>Causal</a:t>
            </a:r>
            <a:r>
              <a:rPr lang="hu-HU" sz="2400" dirty="0"/>
              <a:t> </a:t>
            </a:r>
            <a:r>
              <a:rPr lang="hu-HU" sz="2400" dirty="0" err="1"/>
              <a:t>variable</a:t>
            </a:r>
            <a:r>
              <a:rPr lang="hu-HU" sz="2400" dirty="0"/>
              <a:t>: </a:t>
            </a:r>
            <a:r>
              <a:rPr lang="hu-HU" sz="2400" dirty="0" err="1"/>
              <a:t>time</a:t>
            </a:r>
            <a:endParaRPr lang="hu-HU" sz="2400" dirty="0"/>
          </a:p>
          <a:p>
            <a:pPr marL="457200" lvl="1" indent="0">
              <a:buNone/>
            </a:pPr>
            <a:endParaRPr lang="hu-HU" sz="2200" dirty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156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B78331A1-7844-08D8-D702-11E94998F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Data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191CF2-2294-9E2F-5BD5-4247DCF22CD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hu-HU" dirty="0"/>
              <a:t>ch22-airline-workfile.rds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2812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EDCE8CB2-202C-4BD9-A632-B45A4A6C2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laszlo.tokes@uni-corvinus.hu</a:t>
            </a:r>
          </a:p>
        </p:txBody>
      </p:sp>
    </p:spTree>
    <p:extLst>
      <p:ext uri="{BB962C8B-B14F-4D97-AF65-F5344CB8AC3E}">
        <p14:creationId xmlns:p14="http://schemas.microsoft.com/office/powerpoint/2010/main" val="201979952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D8EE96A8-42F9-4417-86C0-0E426C341AE1}"/>
    </a:ext>
  </a:extLst>
</a:theme>
</file>

<file path=ppt/theme/theme2.xml><?xml version="1.0" encoding="utf-8"?>
<a:theme xmlns:a="http://schemas.openxmlformats.org/drawingml/2006/main" name="Corvinus base dia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41FFBDF2-19AA-4D88-9C94-633483EA1837}"/>
    </a:ext>
  </a:extLst>
</a:theme>
</file>

<file path=ppt/theme/theme3.xml><?xml version="1.0" encoding="utf-8"?>
<a:theme xmlns:a="http://schemas.openxmlformats.org/drawingml/2006/main" name="1_Corvinus táblázat dia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121E4260-8522-439B-90E7-57B2C628AE46}"/>
    </a:ext>
  </a:extLst>
</a:theme>
</file>

<file path=ppt/theme/theme4.xml><?xml version="1.0" encoding="utf-8"?>
<a:theme xmlns:a="http://schemas.openxmlformats.org/drawingml/2006/main" name="Blank slide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vinus_eng" id="{7FE88C59-574B-44A4-B10C-A291E1A042CA}" vid="{10AF5ECA-0CF5-499F-B225-C0F6DC811E1A}"/>
    </a:ext>
  </a:extLst>
</a:theme>
</file>

<file path=ppt/theme/theme5.xml><?xml version="1.0" encoding="utf-8"?>
<a:theme xmlns:a="http://schemas.openxmlformats.org/drawingml/2006/main" name="Thank you for your attention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940B5F81-70D3-4DE0-8999-14D2CA07D1C3}"/>
    </a:ext>
  </a:extLst>
</a:theme>
</file>

<file path=ppt/theme/theme6.xml><?xml version="1.0" encoding="utf-8"?>
<a:theme xmlns:a="http://schemas.openxmlformats.org/drawingml/2006/main" name="Excipients">
  <a:themeElements>
    <a:clrScheme name="Corvinus New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BCA5E3C8-49F6-42B9-976C-F32B80B63032}"/>
    </a:ext>
  </a:extLst>
</a:theme>
</file>

<file path=ppt/theme/theme7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Corvinus Presentation template_EN.7fb</Template>
  <TotalTime>83</TotalTime>
  <Words>167</Words>
  <Application>Microsoft Office PowerPoint</Application>
  <PresentationFormat>Szélesvásznú</PresentationFormat>
  <Paragraphs>33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6</vt:i4>
      </vt:variant>
      <vt:variant>
        <vt:lpstr>Diacímek</vt:lpstr>
      </vt:variant>
      <vt:variant>
        <vt:i4>5</vt:i4>
      </vt:variant>
    </vt:vector>
  </HeadingPairs>
  <TitlesOfParts>
    <vt:vector size="18" baseType="lpstr">
      <vt:lpstr>Arial</vt:lpstr>
      <vt:lpstr>Arial </vt:lpstr>
      <vt:lpstr>Calibri</vt:lpstr>
      <vt:lpstr>Calibri Light</vt:lpstr>
      <vt:lpstr>Georgia</vt:lpstr>
      <vt:lpstr>Muli</vt:lpstr>
      <vt:lpstr>Wingdings</vt:lpstr>
      <vt:lpstr>Title slide</vt:lpstr>
      <vt:lpstr>Corvinus base dia</vt:lpstr>
      <vt:lpstr>1_Corvinus táblázat dia</vt:lpstr>
      <vt:lpstr>Blank slide</vt:lpstr>
      <vt:lpstr>Thank you for your attention</vt:lpstr>
      <vt:lpstr>Excipients</vt:lpstr>
      <vt:lpstr>How does a merger between airlines affect prices?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from home and Employee Performance</dc:title>
  <dc:creator>Tőkés László János</dc:creator>
  <cp:lastModifiedBy>Tőkés László János</cp:lastModifiedBy>
  <cp:revision>3</cp:revision>
  <dcterms:created xsi:type="dcterms:W3CDTF">2022-09-13T08:31:15Z</dcterms:created>
  <dcterms:modified xsi:type="dcterms:W3CDTF">2025-11-30T12:45:19Z</dcterms:modified>
</cp:coreProperties>
</file>